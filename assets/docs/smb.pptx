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73" r:id="rId3"/>
    <p:sldId id="258" r:id="rId4"/>
    <p:sldId id="274" r:id="rId5"/>
    <p:sldId id="275" r:id="rId6"/>
    <p:sldId id="262" r:id="rId7"/>
    <p:sldId id="269" r:id="rId8"/>
    <p:sldId id="264" r:id="rId9"/>
    <p:sldId id="265" r:id="rId10"/>
    <p:sldId id="266" r:id="rId11"/>
    <p:sldId id="276" r:id="rId12"/>
    <p:sldId id="267" r:id="rId13"/>
    <p:sldId id="277" r:id="rId14"/>
    <p:sldId id="270" r:id="rId15"/>
    <p:sldId id="271" r:id="rId16"/>
    <p:sldId id="268" r:id="rId17"/>
    <p:sldId id="278"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DD260500-66E8-4357-8909-AFD62B7E352E}">
          <p14:sldIdLst>
            <p14:sldId id="256"/>
            <p14:sldId id="273"/>
            <p14:sldId id="258"/>
            <p14:sldId id="274"/>
            <p14:sldId id="275"/>
            <p14:sldId id="262"/>
            <p14:sldId id="269"/>
            <p14:sldId id="264"/>
          </p14:sldIdLst>
        </p14:section>
        <p14:section name="Section sans titre" id="{1652853E-F41C-488F-A48A-B1D68659FC85}">
          <p14:sldIdLst>
            <p14:sldId id="265"/>
            <p14:sldId id="266"/>
            <p14:sldId id="276"/>
            <p14:sldId id="267"/>
            <p14:sldId id="277"/>
            <p14:sldId id="270"/>
            <p14:sldId id="271"/>
            <p14:sldId id="268"/>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35" autoAdjust="0"/>
    <p:restoredTop sz="94660"/>
  </p:normalViewPr>
  <p:slideViewPr>
    <p:cSldViewPr snapToGrid="0">
      <p:cViewPr varScale="1">
        <p:scale>
          <a:sx n="67" d="100"/>
          <a:sy n="67" d="100"/>
        </p:scale>
        <p:origin x="64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fr-FR"/>
              <a:t>Modifiez le style du titre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7627CAA2-28BC-444A-8504-A38C335F6805}" type="datetimeFigureOut">
              <a:rPr lang="en-US" smtClean="0"/>
              <a:t>1/25/25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E60CB2-9731-4E28-92FF-6E41EE048D08}" type="slidenum">
              <a:rPr lang="en-US" smtClean="0"/>
              <a:t>‹#›</a:t>
            </a:fld>
            <a:endParaRPr lang="en-US"/>
          </a:p>
        </p:txBody>
      </p:sp>
    </p:spTree>
    <p:extLst>
      <p:ext uri="{BB962C8B-B14F-4D97-AF65-F5344CB8AC3E}">
        <p14:creationId xmlns:p14="http://schemas.microsoft.com/office/powerpoint/2010/main" val="31488536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3"/>
          <p:cNvSpPr>
            <a:spLocks noGrp="1"/>
          </p:cNvSpPr>
          <p:nvPr>
            <p:ph type="dt" sz="half" idx="10"/>
          </p:nvPr>
        </p:nvSpPr>
        <p:spPr/>
        <p:txBody>
          <a:bodyPr/>
          <a:lstStyle/>
          <a:p>
            <a:fld id="{7627CAA2-28BC-444A-8504-A38C335F6805}" type="datetimeFigureOut">
              <a:rPr lang="en-US" smtClean="0"/>
              <a:t>1/25/25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E60CB2-9731-4E28-92FF-6E41EE048D08}" type="slidenum">
              <a:rPr lang="en-US" smtClean="0"/>
              <a:t>‹#›</a:t>
            </a:fld>
            <a:endParaRPr lang="en-US"/>
          </a:p>
        </p:txBody>
      </p:sp>
    </p:spTree>
    <p:extLst>
      <p:ext uri="{BB962C8B-B14F-4D97-AF65-F5344CB8AC3E}">
        <p14:creationId xmlns:p14="http://schemas.microsoft.com/office/powerpoint/2010/main" val="29202330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7627CAA2-28BC-444A-8504-A38C335F6805}" type="datetimeFigureOut">
              <a:rPr lang="en-US" smtClean="0"/>
              <a:t>1/25/25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E60CB2-9731-4E28-92FF-6E41EE048D08}" type="slidenum">
              <a:rPr lang="en-US" smtClean="0"/>
              <a:t>‹#›</a:t>
            </a:fld>
            <a:endParaRPr lang="en-US"/>
          </a:p>
        </p:txBody>
      </p:sp>
    </p:spTree>
    <p:extLst>
      <p:ext uri="{BB962C8B-B14F-4D97-AF65-F5344CB8AC3E}">
        <p14:creationId xmlns:p14="http://schemas.microsoft.com/office/powerpoint/2010/main" val="23965623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7627CAA2-28BC-444A-8504-A38C335F6805}" type="datetimeFigureOut">
              <a:rPr lang="en-US" smtClean="0"/>
              <a:t>1/25/25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EE60CB2-9731-4E28-92FF-6E41EE048D08}" type="slidenum">
              <a:rPr lang="en-US" smtClean="0"/>
              <a:t>‹#›</a:t>
            </a:fld>
            <a:endParaRPr lang="en-US"/>
          </a:p>
        </p:txBody>
      </p:sp>
    </p:spTree>
    <p:extLst>
      <p:ext uri="{BB962C8B-B14F-4D97-AF65-F5344CB8AC3E}">
        <p14:creationId xmlns:p14="http://schemas.microsoft.com/office/powerpoint/2010/main" val="712027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Modifiez le style du titre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7627CAA2-28BC-444A-8504-A38C335F6805}" type="datetimeFigureOut">
              <a:rPr lang="en-US" smtClean="0"/>
              <a:t>1/25/25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EE60CB2-9731-4E28-92FF-6E41EE048D08}" type="slidenum">
              <a:rPr lang="en-US" smtClean="0"/>
              <a:t>‹#›</a:t>
            </a:fld>
            <a:endParaRPr lang="en-US"/>
          </a:p>
        </p:txBody>
      </p:sp>
    </p:spTree>
    <p:extLst>
      <p:ext uri="{BB962C8B-B14F-4D97-AF65-F5344CB8AC3E}">
        <p14:creationId xmlns:p14="http://schemas.microsoft.com/office/powerpoint/2010/main" val="24451019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7" name="Date Placeholder 2"/>
          <p:cNvSpPr>
            <a:spLocks noGrp="1"/>
          </p:cNvSpPr>
          <p:nvPr>
            <p:ph type="dt" sz="half" idx="10"/>
          </p:nvPr>
        </p:nvSpPr>
        <p:spPr/>
        <p:txBody>
          <a:bodyPr/>
          <a:lstStyle/>
          <a:p>
            <a:fld id="{7627CAA2-28BC-444A-8504-A38C335F6805}" type="datetimeFigureOut">
              <a:rPr lang="en-US" smtClean="0"/>
              <a:t>1/25/25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2EE60CB2-9731-4E28-92FF-6E41EE048D08}" type="slidenum">
              <a:rPr lang="en-US" smtClean="0"/>
              <a:t>‹#›</a:t>
            </a:fld>
            <a:endParaRPr lang="en-US"/>
          </a:p>
        </p:txBody>
      </p:sp>
    </p:spTree>
    <p:extLst>
      <p:ext uri="{BB962C8B-B14F-4D97-AF65-F5344CB8AC3E}">
        <p14:creationId xmlns:p14="http://schemas.microsoft.com/office/powerpoint/2010/main" val="5135546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7627CAA2-28BC-444A-8504-A38C335F6805}" type="datetimeFigureOut">
              <a:rPr lang="en-US" smtClean="0"/>
              <a:t>1/25/25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2EE60CB2-9731-4E28-92FF-6E41EE048D08}" type="slidenum">
              <a:rPr lang="en-US" smtClean="0"/>
              <a:t>‹#›</a:t>
            </a:fld>
            <a:endParaRPr lang="en-US"/>
          </a:p>
        </p:txBody>
      </p:sp>
    </p:spTree>
    <p:extLst>
      <p:ext uri="{BB962C8B-B14F-4D97-AF65-F5344CB8AC3E}">
        <p14:creationId xmlns:p14="http://schemas.microsoft.com/office/powerpoint/2010/main" val="3874616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fr-FR"/>
              <a:t>Modifiez le style du titre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7" name="Date Placeholder 4"/>
          <p:cNvSpPr>
            <a:spLocks noGrp="1"/>
          </p:cNvSpPr>
          <p:nvPr>
            <p:ph type="dt" sz="half" idx="10"/>
          </p:nvPr>
        </p:nvSpPr>
        <p:spPr/>
        <p:txBody>
          <a:bodyPr/>
          <a:lstStyle/>
          <a:p>
            <a:fld id="{7627CAA2-28BC-444A-8504-A38C335F6805}" type="datetimeFigureOut">
              <a:rPr lang="en-US" smtClean="0"/>
              <a:t>1/25/25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2EE60CB2-9731-4E28-92FF-6E41EE048D08}" type="slidenum">
              <a:rPr lang="en-US" smtClean="0"/>
              <a:t>‹#›</a:t>
            </a:fld>
            <a:endParaRPr lang="en-US"/>
          </a:p>
        </p:txBody>
      </p:sp>
    </p:spTree>
    <p:extLst>
      <p:ext uri="{BB962C8B-B14F-4D97-AF65-F5344CB8AC3E}">
        <p14:creationId xmlns:p14="http://schemas.microsoft.com/office/powerpoint/2010/main" val="12092548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fr-FR"/>
              <a:t>Modifiez le style du titre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7627CAA2-28BC-444A-8504-A38C335F6805}" type="datetimeFigureOut">
              <a:rPr lang="en-US" smtClean="0"/>
              <a:t>1/25/25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EE60CB2-9731-4E28-92FF-6E41EE048D08}" type="slidenum">
              <a:rPr lang="en-US" smtClean="0"/>
              <a:t>‹#›</a:t>
            </a:fld>
            <a:endParaRPr lang="en-US"/>
          </a:p>
        </p:txBody>
      </p:sp>
    </p:spTree>
    <p:extLst>
      <p:ext uri="{BB962C8B-B14F-4D97-AF65-F5344CB8AC3E}">
        <p14:creationId xmlns:p14="http://schemas.microsoft.com/office/powerpoint/2010/main" val="1453038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7627CAA2-28BC-444A-8504-A38C335F6805}" type="datetimeFigureOut">
              <a:rPr lang="en-US" smtClean="0"/>
              <a:t>1/25/25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EE60CB2-9731-4E28-92FF-6E41EE048D08}" type="slidenum">
              <a:rPr lang="en-US" smtClean="0"/>
              <a:t>‹#›</a:t>
            </a:fld>
            <a:endParaRPr lang="en-US"/>
          </a:p>
        </p:txBody>
      </p:sp>
    </p:spTree>
    <p:extLst>
      <p:ext uri="{BB962C8B-B14F-4D97-AF65-F5344CB8AC3E}">
        <p14:creationId xmlns:p14="http://schemas.microsoft.com/office/powerpoint/2010/main" val="17450525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fr-FR"/>
              <a:t>Modifiez le style du titre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7627CAA2-28BC-444A-8504-A38C335F6805}" type="datetimeFigureOut">
              <a:rPr lang="en-US" smtClean="0"/>
              <a:t>1/25/25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E60CB2-9731-4E28-92FF-6E41EE048D08}" type="slidenum">
              <a:rPr lang="en-US" smtClean="0"/>
              <a:t>‹#›</a:t>
            </a:fld>
            <a:endParaRPr lang="en-US"/>
          </a:p>
        </p:txBody>
      </p:sp>
    </p:spTree>
    <p:extLst>
      <p:ext uri="{BB962C8B-B14F-4D97-AF65-F5344CB8AC3E}">
        <p14:creationId xmlns:p14="http://schemas.microsoft.com/office/powerpoint/2010/main" val="23888667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fr-FR"/>
              <a:t>Modifiez le style du titre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fr-FR"/>
              <a:t>Cliquez pour modifier les styles du texte du masque</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7627CAA2-28BC-444A-8504-A38C335F6805}" type="datetimeFigureOut">
              <a:rPr lang="en-US" smtClean="0"/>
              <a:t>1/25/25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E60CB2-9731-4E28-92FF-6E41EE048D08}"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1841888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7627CAA2-28BC-444A-8504-A38C335F6805}" type="datetimeFigureOut">
              <a:rPr lang="en-US" smtClean="0"/>
              <a:t>1/25/25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E60CB2-9731-4E28-92FF-6E41EE048D08}" type="slidenum">
              <a:rPr lang="en-US" smtClean="0"/>
              <a:t>‹#›</a:t>
            </a:fld>
            <a:endParaRPr lang="en-US"/>
          </a:p>
        </p:txBody>
      </p:sp>
    </p:spTree>
    <p:extLst>
      <p:ext uri="{BB962C8B-B14F-4D97-AF65-F5344CB8AC3E}">
        <p14:creationId xmlns:p14="http://schemas.microsoft.com/office/powerpoint/2010/main" val="37954201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fr-FR"/>
              <a:t>Modifiez le style du titre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627CAA2-28BC-444A-8504-A38C335F6805}" type="datetimeFigureOut">
              <a:rPr lang="en-US" smtClean="0"/>
              <a:t>1/25/25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E60CB2-9731-4E28-92FF-6E41EE048D08}" type="slidenum">
              <a:rPr lang="en-US" smtClean="0"/>
              <a:t>‹#›</a:t>
            </a:fld>
            <a:endParaRPr lang="en-US"/>
          </a:p>
        </p:txBody>
      </p:sp>
    </p:spTree>
    <p:extLst>
      <p:ext uri="{BB962C8B-B14F-4D97-AF65-F5344CB8AC3E}">
        <p14:creationId xmlns:p14="http://schemas.microsoft.com/office/powerpoint/2010/main" val="27910071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s d’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fr-FR"/>
              <a:t>Modifiez le style du titre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627CAA2-28BC-444A-8504-A38C335F6805}" type="datetimeFigureOut">
              <a:rPr lang="en-US" smtClean="0"/>
              <a:t>1/25/25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E60CB2-9731-4E28-92FF-6E41EE048D08}" type="slidenum">
              <a:rPr lang="en-US" smtClean="0"/>
              <a:t>‹#›</a:t>
            </a:fld>
            <a:endParaRPr lang="en-US"/>
          </a:p>
        </p:txBody>
      </p:sp>
    </p:spTree>
    <p:extLst>
      <p:ext uri="{BB962C8B-B14F-4D97-AF65-F5344CB8AC3E}">
        <p14:creationId xmlns:p14="http://schemas.microsoft.com/office/powerpoint/2010/main" val="18492299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nchor="t" anchorCtr="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7627CAA2-28BC-444A-8504-A38C335F6805}" type="datetimeFigureOut">
              <a:rPr lang="en-US" smtClean="0"/>
              <a:t>1/25/25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E60CB2-9731-4E28-92FF-6E41EE048D08}" type="slidenum">
              <a:rPr lang="en-US" smtClean="0"/>
              <a:t>‹#›</a:t>
            </a:fld>
            <a:endParaRPr lang="en-US"/>
          </a:p>
        </p:txBody>
      </p:sp>
    </p:spTree>
    <p:extLst>
      <p:ext uri="{BB962C8B-B14F-4D97-AF65-F5344CB8AC3E}">
        <p14:creationId xmlns:p14="http://schemas.microsoft.com/office/powerpoint/2010/main" val="15865166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fr-FR"/>
              <a:t>Modifiez le style du titre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7627CAA2-28BC-444A-8504-A38C335F6805}" type="datetimeFigureOut">
              <a:rPr lang="en-US" smtClean="0"/>
              <a:t>1/25/25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E60CB2-9731-4E28-92FF-6E41EE048D08}" type="slidenum">
              <a:rPr lang="en-US" smtClean="0"/>
              <a:t>‹#›</a:t>
            </a:fld>
            <a:endParaRPr lang="en-US"/>
          </a:p>
        </p:txBody>
      </p:sp>
    </p:spTree>
    <p:extLst>
      <p:ext uri="{BB962C8B-B14F-4D97-AF65-F5344CB8AC3E}">
        <p14:creationId xmlns:p14="http://schemas.microsoft.com/office/powerpoint/2010/main" val="16550427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fr-FR"/>
              <a:t>Modifiez le style du titre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7627CAA2-28BC-444A-8504-A38C335F6805}" type="datetimeFigureOut">
              <a:rPr lang="en-US" smtClean="0"/>
              <a:t>1/25/25</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2EE60CB2-9731-4E28-92FF-6E41EE048D08}" type="slidenum">
              <a:rPr lang="en-US" smtClean="0"/>
              <a:t>‹#›</a:t>
            </a:fld>
            <a:endParaRPr lang="en-US"/>
          </a:p>
        </p:txBody>
      </p:sp>
    </p:spTree>
    <p:extLst>
      <p:ext uri="{BB962C8B-B14F-4D97-AF65-F5344CB8AC3E}">
        <p14:creationId xmlns:p14="http://schemas.microsoft.com/office/powerpoint/2010/main" val="905543873"/>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A28A02-3F70-9DFB-F91B-31C4CB228745}"/>
              </a:ext>
            </a:extLst>
          </p:cNvPr>
          <p:cNvSpPr>
            <a:spLocks noGrp="1"/>
          </p:cNvSpPr>
          <p:nvPr>
            <p:ph type="ctrTitle"/>
          </p:nvPr>
        </p:nvSpPr>
        <p:spPr>
          <a:xfrm>
            <a:off x="1717039" y="878839"/>
            <a:ext cx="8879691" cy="1010921"/>
          </a:xfrm>
        </p:spPr>
        <p:txBody>
          <a:bodyPr/>
          <a:lstStyle/>
          <a:p>
            <a:pPr algn="ctr"/>
            <a:r>
              <a:rPr lang="en-US" b="1" dirty="0"/>
              <a:t>PROJET UNIX</a:t>
            </a:r>
          </a:p>
        </p:txBody>
      </p:sp>
      <p:sp>
        <p:nvSpPr>
          <p:cNvPr id="3" name="Sous-titre 2">
            <a:extLst>
              <a:ext uri="{FF2B5EF4-FFF2-40B4-BE49-F238E27FC236}">
                <a16:creationId xmlns:a16="http://schemas.microsoft.com/office/drawing/2014/main" id="{CC901BA1-7F4E-C12A-2C23-9B7995FCAF74}"/>
              </a:ext>
            </a:extLst>
          </p:cNvPr>
          <p:cNvSpPr>
            <a:spLocks noGrp="1"/>
          </p:cNvSpPr>
          <p:nvPr>
            <p:ph type="subTitle" idx="1"/>
          </p:nvPr>
        </p:nvSpPr>
        <p:spPr>
          <a:xfrm>
            <a:off x="847023" y="2382252"/>
            <a:ext cx="10780295" cy="4239929"/>
          </a:xfrm>
        </p:spPr>
        <p:txBody>
          <a:bodyPr>
            <a:normAutofit lnSpcReduction="10000"/>
          </a:bodyPr>
          <a:lstStyle/>
          <a:p>
            <a:pPr algn="ctr"/>
            <a:r>
              <a:rPr lang="en-US" sz="3500" b="1" dirty="0"/>
              <a:t>SAMBA(SMB Protocol)</a:t>
            </a:r>
          </a:p>
          <a:p>
            <a:pPr algn="l"/>
            <a:r>
              <a:rPr lang="fr-FR" u="sng" dirty="0">
                <a:solidFill>
                  <a:schemeClr val="tx1"/>
                </a:solidFill>
                <a:effectLst/>
              </a:rPr>
              <a:t>Groupe 2</a:t>
            </a:r>
            <a:r>
              <a:rPr lang="en-US" u="sng" dirty="0">
                <a:solidFill>
                  <a:schemeClr val="tx1"/>
                </a:solidFill>
                <a:effectLst/>
              </a:rPr>
              <a:t>:</a:t>
            </a:r>
          </a:p>
          <a:p>
            <a:pPr marL="342900" indent="-342900" algn="r">
              <a:buFont typeface="Wingdings" panose="05000000000000000000" pitchFamily="2" charset="2"/>
              <a:buChar char="Ø"/>
            </a:pPr>
            <a:r>
              <a:rPr lang="en-US" dirty="0">
                <a:solidFill>
                  <a:schemeClr val="tx1"/>
                </a:solidFill>
                <a:effectLst/>
              </a:rPr>
              <a:t>Mohamed </a:t>
            </a:r>
            <a:r>
              <a:rPr lang="en-US" dirty="0" err="1">
                <a:solidFill>
                  <a:schemeClr val="tx1"/>
                </a:solidFill>
                <a:effectLst/>
              </a:rPr>
              <a:t>salem</a:t>
            </a:r>
            <a:r>
              <a:rPr lang="en-US" dirty="0">
                <a:solidFill>
                  <a:schemeClr val="tx1"/>
                </a:solidFill>
                <a:effectLst/>
              </a:rPr>
              <a:t> </a:t>
            </a:r>
            <a:r>
              <a:rPr lang="en-US" dirty="0" err="1">
                <a:solidFill>
                  <a:schemeClr val="tx1"/>
                </a:solidFill>
                <a:effectLst/>
              </a:rPr>
              <a:t>abdel</a:t>
            </a:r>
            <a:r>
              <a:rPr lang="en-US" dirty="0">
                <a:solidFill>
                  <a:schemeClr val="tx1"/>
                </a:solidFill>
                <a:effectLst/>
              </a:rPr>
              <a:t> </a:t>
            </a:r>
            <a:r>
              <a:rPr lang="en-US" dirty="0" err="1">
                <a:solidFill>
                  <a:schemeClr val="tx1"/>
                </a:solidFill>
                <a:effectLst/>
              </a:rPr>
              <a:t>wedoud</a:t>
            </a:r>
            <a:r>
              <a:rPr lang="en-US" dirty="0">
                <a:solidFill>
                  <a:schemeClr val="tx1"/>
                </a:solidFill>
                <a:effectLst/>
              </a:rPr>
              <a:t>	c24809</a:t>
            </a:r>
          </a:p>
          <a:p>
            <a:pPr marL="342900" indent="-342900" algn="r">
              <a:buFont typeface="Wingdings" panose="05000000000000000000" pitchFamily="2" charset="2"/>
              <a:buChar char="Ø"/>
            </a:pPr>
            <a:r>
              <a:rPr lang="en-US" dirty="0">
                <a:solidFill>
                  <a:schemeClr val="tx1"/>
                </a:solidFill>
              </a:rPr>
              <a:t>MOHAMED SALEM EL MAALOUM 		C24903</a:t>
            </a:r>
            <a:endParaRPr lang="en-US" dirty="0">
              <a:solidFill>
                <a:schemeClr val="tx1"/>
              </a:solidFill>
              <a:effectLst/>
            </a:endParaRPr>
          </a:p>
          <a:p>
            <a:r>
              <a:rPr lang="en-US" dirty="0">
                <a:solidFill>
                  <a:schemeClr val="tx1"/>
                </a:solidFill>
                <a:effectLst/>
              </a:rPr>
              <a:t>Presenté a:</a:t>
            </a:r>
          </a:p>
          <a:p>
            <a:pPr algn="r"/>
            <a:r>
              <a:rPr lang="en-US" dirty="0">
                <a:solidFill>
                  <a:schemeClr val="accent3">
                    <a:lumMod val="20000"/>
                    <a:lumOff val="80000"/>
                  </a:schemeClr>
                </a:solidFill>
                <a:effectLst/>
              </a:rPr>
              <a:t>DR Ahmed Mohamed </a:t>
            </a:r>
            <a:r>
              <a:rPr lang="en-US" dirty="0" err="1">
                <a:solidFill>
                  <a:schemeClr val="accent3">
                    <a:lumMod val="20000"/>
                    <a:lumOff val="80000"/>
                  </a:schemeClr>
                </a:solidFill>
                <a:effectLst/>
              </a:rPr>
              <a:t>lemine</a:t>
            </a:r>
            <a:r>
              <a:rPr lang="en-US" dirty="0">
                <a:solidFill>
                  <a:schemeClr val="accent3">
                    <a:lumMod val="20000"/>
                    <a:lumOff val="80000"/>
                  </a:schemeClr>
                </a:solidFill>
                <a:effectLst/>
              </a:rPr>
              <a:t> </a:t>
            </a:r>
            <a:r>
              <a:rPr lang="en-US" dirty="0" err="1">
                <a:solidFill>
                  <a:schemeClr val="accent3">
                    <a:lumMod val="20000"/>
                    <a:lumOff val="80000"/>
                  </a:schemeClr>
                </a:solidFill>
                <a:effectLst/>
              </a:rPr>
              <a:t>Mamoune</a:t>
            </a:r>
            <a:endParaRPr lang="en-US" dirty="0">
              <a:solidFill>
                <a:schemeClr val="accent3">
                  <a:lumMod val="20000"/>
                  <a:lumOff val="80000"/>
                </a:schemeClr>
              </a:solidFill>
              <a:effectLst/>
            </a:endParaRPr>
          </a:p>
          <a:p>
            <a:pPr algn="r"/>
            <a:endParaRPr lang="en-US" dirty="0">
              <a:solidFill>
                <a:schemeClr val="accent3">
                  <a:lumMod val="20000"/>
                  <a:lumOff val="80000"/>
                </a:schemeClr>
              </a:solidFill>
              <a:effectLst/>
            </a:endParaRPr>
          </a:p>
          <a:p>
            <a:pPr algn="ctr"/>
            <a:r>
              <a:rPr lang="en-US" sz="6500" dirty="0">
                <a:solidFill>
                  <a:schemeClr val="tx1"/>
                </a:solidFill>
                <a:effectLst/>
              </a:rPr>
              <a:t>2024-2025</a:t>
            </a:r>
          </a:p>
          <a:p>
            <a:pPr algn="l"/>
            <a:endParaRPr lang="en-US" dirty="0">
              <a:solidFill>
                <a:schemeClr val="accent3">
                  <a:lumMod val="40000"/>
                  <a:lumOff val="60000"/>
                </a:schemeClr>
              </a:solidFill>
              <a:effectLst/>
            </a:endParaRPr>
          </a:p>
          <a:p>
            <a:pPr algn="l"/>
            <a:endParaRPr lang="en-US" dirty="0">
              <a:solidFill>
                <a:schemeClr val="accent3">
                  <a:lumMod val="40000"/>
                  <a:lumOff val="60000"/>
                </a:schemeClr>
              </a:solidFill>
              <a:effectLst/>
            </a:endParaRPr>
          </a:p>
          <a:p>
            <a:pPr algn="l"/>
            <a:endParaRPr lang="en-US" dirty="0">
              <a:solidFill>
                <a:schemeClr val="accent3">
                  <a:lumMod val="40000"/>
                  <a:lumOff val="60000"/>
                </a:schemeClr>
              </a:solidFill>
              <a:effectLst/>
            </a:endParaRPr>
          </a:p>
          <a:p>
            <a:endParaRPr lang="en-US" b="1" dirty="0"/>
          </a:p>
        </p:txBody>
      </p:sp>
    </p:spTree>
    <p:extLst>
      <p:ext uri="{BB962C8B-B14F-4D97-AF65-F5344CB8AC3E}">
        <p14:creationId xmlns:p14="http://schemas.microsoft.com/office/powerpoint/2010/main" val="5203683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1A7BED-08A6-A623-3A99-56F8F1900BB2}"/>
              </a:ext>
            </a:extLst>
          </p:cNvPr>
          <p:cNvSpPr>
            <a:spLocks noGrp="1"/>
          </p:cNvSpPr>
          <p:nvPr>
            <p:ph type="title"/>
          </p:nvPr>
        </p:nvSpPr>
        <p:spPr/>
        <p:txBody>
          <a:bodyPr/>
          <a:lstStyle/>
          <a:p>
            <a:pPr algn="ctr"/>
            <a:r>
              <a:rPr lang="en-US" sz="6000" dirty="0">
                <a:solidFill>
                  <a:schemeClr val="accent3"/>
                </a:solidFill>
              </a:rPr>
              <a:t>Introduction</a:t>
            </a:r>
            <a:endParaRPr lang="en-US" sz="6000" dirty="0">
              <a:solidFill>
                <a:schemeClr val="accent3">
                  <a:lumMod val="75000"/>
                </a:schemeClr>
              </a:solidFill>
            </a:endParaRPr>
          </a:p>
        </p:txBody>
      </p:sp>
      <p:sp>
        <p:nvSpPr>
          <p:cNvPr id="3" name="Espace réservé du contenu 2">
            <a:extLst>
              <a:ext uri="{FF2B5EF4-FFF2-40B4-BE49-F238E27FC236}">
                <a16:creationId xmlns:a16="http://schemas.microsoft.com/office/drawing/2014/main" id="{2A8C715A-719B-23BE-F56A-8FA84BDE82F2}"/>
              </a:ext>
            </a:extLst>
          </p:cNvPr>
          <p:cNvSpPr>
            <a:spLocks noGrp="1"/>
          </p:cNvSpPr>
          <p:nvPr>
            <p:ph idx="1"/>
          </p:nvPr>
        </p:nvSpPr>
        <p:spPr>
          <a:xfrm>
            <a:off x="913795" y="1935921"/>
            <a:ext cx="10353762" cy="3695136"/>
          </a:xfrm>
        </p:spPr>
        <p:txBody>
          <a:bodyPr>
            <a:normAutofit/>
          </a:bodyPr>
          <a:lstStyle/>
          <a:p>
            <a:pPr>
              <a:buFont typeface="Wingdings" panose="05000000000000000000" pitchFamily="2" charset="2"/>
              <a:buChar char="Ø"/>
            </a:pPr>
            <a:r>
              <a:rPr lang="en-US" dirty="0">
                <a:effectLst/>
              </a:rPr>
              <a:t>SAMBA</a:t>
            </a:r>
            <a:r>
              <a:rPr lang="en-US" dirty="0"/>
              <a:t>: </a:t>
            </a:r>
            <a:r>
              <a:rPr lang="en-US" dirty="0" err="1"/>
              <a:t>est</a:t>
            </a:r>
            <a:r>
              <a:rPr lang="en-US" dirty="0"/>
              <a:t> un </a:t>
            </a:r>
            <a:r>
              <a:rPr lang="en-US" dirty="0" err="1"/>
              <a:t>logiciel</a:t>
            </a:r>
            <a:r>
              <a:rPr lang="en-US" dirty="0"/>
              <a:t> libre qui </a:t>
            </a:r>
            <a:r>
              <a:rPr lang="en-US" dirty="0" err="1"/>
              <a:t>permet</a:t>
            </a:r>
            <a:r>
              <a:rPr lang="en-US" dirty="0"/>
              <a:t> le partage de </a:t>
            </a:r>
            <a:r>
              <a:rPr lang="en-US" dirty="0" err="1"/>
              <a:t>fichiers</a:t>
            </a:r>
            <a:r>
              <a:rPr lang="en-US" dirty="0"/>
              <a:t> , </a:t>
            </a:r>
            <a:r>
              <a:rPr lang="en-US" dirty="0" err="1"/>
              <a:t>d’imprimantes</a:t>
            </a:r>
            <a:r>
              <a:rPr lang="en-US" dirty="0"/>
              <a:t> et </a:t>
            </a:r>
            <a:r>
              <a:rPr lang="en-US" dirty="0" err="1"/>
              <a:t>d’autres</a:t>
            </a:r>
            <a:r>
              <a:rPr lang="en-US" dirty="0"/>
              <a:t> </a:t>
            </a:r>
            <a:r>
              <a:rPr lang="en-US" dirty="0" err="1"/>
              <a:t>ressources</a:t>
            </a:r>
            <a:r>
              <a:rPr lang="en-US" dirty="0"/>
              <a:t> entre des </a:t>
            </a:r>
            <a:r>
              <a:rPr lang="en-US" dirty="0" err="1"/>
              <a:t>ordinateurs</a:t>
            </a:r>
            <a:r>
              <a:rPr lang="en-US" dirty="0"/>
              <a:t> </a:t>
            </a:r>
            <a:r>
              <a:rPr lang="en-US" dirty="0" err="1"/>
              <a:t>fonctionnant</a:t>
            </a:r>
            <a:r>
              <a:rPr lang="en-US" dirty="0"/>
              <a:t> sous des systems </a:t>
            </a:r>
            <a:r>
              <a:rPr lang="en-US" dirty="0" err="1"/>
              <a:t>d’exploitation</a:t>
            </a:r>
            <a:r>
              <a:rPr lang="en-US" dirty="0"/>
              <a:t> </a:t>
            </a:r>
            <a:r>
              <a:rPr lang="en-US" dirty="0" err="1"/>
              <a:t>différents</a:t>
            </a:r>
            <a:r>
              <a:rPr lang="en-US" dirty="0"/>
              <a:t> , </a:t>
            </a:r>
            <a:r>
              <a:rPr lang="en-US" dirty="0" err="1"/>
              <a:t>principalement</a:t>
            </a:r>
            <a:r>
              <a:rPr lang="en-US" dirty="0"/>
              <a:t> </a:t>
            </a:r>
            <a:r>
              <a:rPr lang="en-US" b="1" dirty="0" err="1"/>
              <a:t>Lunix</a:t>
            </a:r>
            <a:r>
              <a:rPr lang="en-US" b="1" dirty="0"/>
              <a:t>/Unix </a:t>
            </a:r>
            <a:r>
              <a:rPr lang="en-US" dirty="0"/>
              <a:t>et </a:t>
            </a:r>
            <a:r>
              <a:rPr lang="en-US" b="1" dirty="0"/>
              <a:t> Windows </a:t>
            </a:r>
            <a:r>
              <a:rPr lang="en-US" dirty="0"/>
              <a:t>.					Samba </a:t>
            </a:r>
            <a:r>
              <a:rPr lang="en-US" dirty="0" err="1"/>
              <a:t>utilise</a:t>
            </a:r>
            <a:r>
              <a:rPr lang="en-US" dirty="0"/>
              <a:t> le </a:t>
            </a:r>
            <a:r>
              <a:rPr lang="en-US" dirty="0" err="1"/>
              <a:t>protocole</a:t>
            </a:r>
            <a:r>
              <a:rPr lang="en-US" dirty="0"/>
              <a:t> SMB (Server Message Block) qui </a:t>
            </a:r>
            <a:r>
              <a:rPr lang="en-US" dirty="0" err="1"/>
              <a:t>est</a:t>
            </a:r>
            <a:r>
              <a:rPr lang="en-US" dirty="0"/>
              <a:t> </a:t>
            </a:r>
            <a:r>
              <a:rPr lang="en-US" dirty="0" err="1"/>
              <a:t>natif</a:t>
            </a:r>
            <a:r>
              <a:rPr lang="en-US" dirty="0"/>
              <a:t> sur windows </a:t>
            </a:r>
            <a:endParaRPr lang="en-US" dirty="0">
              <a:effectLst/>
            </a:endParaRPr>
          </a:p>
          <a:p>
            <a:pPr>
              <a:buFont typeface="Wingdings" panose="05000000000000000000" pitchFamily="2" charset="2"/>
              <a:buChar char="Ø"/>
            </a:pPr>
            <a:r>
              <a:rPr lang="en-US" dirty="0">
                <a:effectLst/>
              </a:rPr>
              <a:t>Nous utilisons:</a:t>
            </a:r>
          </a:p>
          <a:p>
            <a:pPr lvl="1">
              <a:buFont typeface="Courier New" panose="02070309020205020404" pitchFamily="49" charset="0"/>
              <a:buChar char="o"/>
            </a:pPr>
            <a:r>
              <a:rPr lang="en-US" dirty="0">
                <a:effectLst/>
              </a:rPr>
              <a:t>Windows 1</a:t>
            </a:r>
            <a:r>
              <a:rPr lang="en-US" dirty="0"/>
              <a:t>1</a:t>
            </a:r>
            <a:endParaRPr lang="en-US" dirty="0">
              <a:effectLst/>
            </a:endParaRPr>
          </a:p>
          <a:p>
            <a:pPr lvl="1">
              <a:buFont typeface="Courier New" panose="02070309020205020404" pitchFamily="49" charset="0"/>
              <a:buChar char="o"/>
            </a:pPr>
            <a:r>
              <a:rPr lang="en-US" dirty="0">
                <a:effectLst/>
              </a:rPr>
              <a:t>kali-lunix</a:t>
            </a:r>
            <a:r>
              <a:rPr lang="en-US" dirty="0"/>
              <a:t>-</a:t>
            </a:r>
            <a:r>
              <a:rPr lang="en-US" dirty="0">
                <a:effectLst/>
              </a:rPr>
              <a:t>2022.1</a:t>
            </a:r>
          </a:p>
          <a:p>
            <a:pPr>
              <a:buFont typeface="Wingdings" panose="05000000000000000000" pitchFamily="2" charset="2"/>
              <a:buChar char="Ø"/>
            </a:pPr>
            <a:r>
              <a:rPr lang="en-US" dirty="0"/>
              <a:t>Mise a jour du </a:t>
            </a:r>
            <a:r>
              <a:rPr lang="en-US" dirty="0" err="1"/>
              <a:t>systeme</a:t>
            </a:r>
            <a:r>
              <a:rPr lang="en-US" dirty="0"/>
              <a:t> : </a:t>
            </a:r>
            <a:endParaRPr lang="en-US" dirty="0">
              <a:effectLst/>
            </a:endParaRPr>
          </a:p>
        </p:txBody>
      </p:sp>
      <p:pic>
        <p:nvPicPr>
          <p:cNvPr id="5" name="Image 4">
            <a:extLst>
              <a:ext uri="{FF2B5EF4-FFF2-40B4-BE49-F238E27FC236}">
                <a16:creationId xmlns:a16="http://schemas.microsoft.com/office/drawing/2014/main" id="{A43A6A21-85C2-485F-8717-B9AB4399C4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1600" y="5048250"/>
            <a:ext cx="9601200" cy="1524000"/>
          </a:xfrm>
          <a:prstGeom prst="rect">
            <a:avLst/>
          </a:prstGeom>
        </p:spPr>
      </p:pic>
    </p:spTree>
    <p:extLst>
      <p:ext uri="{BB962C8B-B14F-4D97-AF65-F5344CB8AC3E}">
        <p14:creationId xmlns:p14="http://schemas.microsoft.com/office/powerpoint/2010/main" val="16410406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3FBCD9-418A-44DF-DA07-CE5E0DE8760C}"/>
              </a:ext>
            </a:extLst>
          </p:cNvPr>
          <p:cNvSpPr>
            <a:spLocks noGrp="1"/>
          </p:cNvSpPr>
          <p:nvPr>
            <p:ph type="title"/>
          </p:nvPr>
        </p:nvSpPr>
        <p:spPr/>
        <p:txBody>
          <a:bodyPr/>
          <a:lstStyle/>
          <a:p>
            <a:pPr algn="ctr"/>
            <a:r>
              <a:rPr lang="en-US" b="1" dirty="0"/>
              <a:t>Installation</a:t>
            </a:r>
            <a:r>
              <a:rPr lang="en-US" dirty="0"/>
              <a:t> :</a:t>
            </a:r>
          </a:p>
        </p:txBody>
      </p:sp>
      <p:sp>
        <p:nvSpPr>
          <p:cNvPr id="3" name="Espace réservé du contenu 2">
            <a:extLst>
              <a:ext uri="{FF2B5EF4-FFF2-40B4-BE49-F238E27FC236}">
                <a16:creationId xmlns:a16="http://schemas.microsoft.com/office/drawing/2014/main" id="{AFA1306D-0E13-8D50-33A7-B9CC18109445}"/>
              </a:ext>
            </a:extLst>
          </p:cNvPr>
          <p:cNvSpPr>
            <a:spLocks noGrp="1"/>
          </p:cNvSpPr>
          <p:nvPr>
            <p:ph idx="1"/>
          </p:nvPr>
        </p:nvSpPr>
        <p:spPr>
          <a:xfrm>
            <a:off x="679801" y="2052918"/>
            <a:ext cx="8946541" cy="4195481"/>
          </a:xfrm>
        </p:spPr>
        <p:txBody>
          <a:bodyPr/>
          <a:lstStyle/>
          <a:p>
            <a:pPr marL="0" indent="0">
              <a:buNone/>
            </a:pPr>
            <a:r>
              <a:rPr lang="en-US" dirty="0"/>
              <a:t>$ sudo apt install samba : </a:t>
            </a:r>
            <a:r>
              <a:rPr lang="en-US" dirty="0" err="1"/>
              <a:t>C’est</a:t>
            </a:r>
            <a:r>
              <a:rPr lang="en-US" dirty="0"/>
              <a:t> la </a:t>
            </a:r>
            <a:r>
              <a:rPr lang="en-US" dirty="0" err="1"/>
              <a:t>commande</a:t>
            </a:r>
            <a:r>
              <a:rPr lang="en-US" dirty="0"/>
              <a:t> de </a:t>
            </a:r>
            <a:r>
              <a:rPr lang="en-US" dirty="0" err="1"/>
              <a:t>l’installation</a:t>
            </a:r>
            <a:r>
              <a:rPr lang="en-US" dirty="0"/>
              <a:t> du Samba .</a:t>
            </a:r>
          </a:p>
          <a:p>
            <a:pPr marL="0" indent="0">
              <a:buNone/>
            </a:pPr>
            <a:endParaRPr lang="en-US" dirty="0">
              <a:solidFill>
                <a:schemeClr val="accent5">
                  <a:lumMod val="75000"/>
                </a:schemeClr>
              </a:solidFill>
            </a:endParaRPr>
          </a:p>
        </p:txBody>
      </p:sp>
      <p:pic>
        <p:nvPicPr>
          <p:cNvPr id="5" name="Image 4">
            <a:extLst>
              <a:ext uri="{FF2B5EF4-FFF2-40B4-BE49-F238E27FC236}">
                <a16:creationId xmlns:a16="http://schemas.microsoft.com/office/drawing/2014/main" id="{20D200CC-6AB2-5A98-3979-667143E274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5303" y="2829862"/>
            <a:ext cx="10466253" cy="3717891"/>
          </a:xfrm>
          <a:prstGeom prst="rect">
            <a:avLst/>
          </a:prstGeom>
        </p:spPr>
      </p:pic>
    </p:spTree>
    <p:extLst>
      <p:ext uri="{BB962C8B-B14F-4D97-AF65-F5344CB8AC3E}">
        <p14:creationId xmlns:p14="http://schemas.microsoft.com/office/powerpoint/2010/main" val="33675750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15C0B9E-1272-4852-837E-276467FB2001}"/>
              </a:ext>
            </a:extLst>
          </p:cNvPr>
          <p:cNvSpPr>
            <a:spLocks noGrp="1"/>
          </p:cNvSpPr>
          <p:nvPr>
            <p:ph type="title"/>
          </p:nvPr>
        </p:nvSpPr>
        <p:spPr>
          <a:xfrm>
            <a:off x="646111" y="452717"/>
            <a:ext cx="9764714" cy="1090333"/>
          </a:xfrm>
        </p:spPr>
        <p:txBody>
          <a:bodyPr/>
          <a:lstStyle/>
          <a:p>
            <a:pPr marL="285750" indent="-285750">
              <a:buFont typeface="Wingdings" panose="05000000000000000000" pitchFamily="2" charset="2"/>
              <a:buChar char="Ø"/>
            </a:pPr>
            <a:r>
              <a:rPr lang="en-US" sz="1600" b="1" dirty="0" err="1"/>
              <a:t>Demarrer</a:t>
            </a:r>
            <a:r>
              <a:rPr lang="en-US" sz="1600" b="1" dirty="0"/>
              <a:t> le service </a:t>
            </a:r>
            <a:r>
              <a:rPr lang="en-US" sz="1600" b="1" dirty="0" err="1"/>
              <a:t>smbd</a:t>
            </a:r>
            <a:r>
              <a:rPr lang="en-US" sz="1600" b="1" dirty="0"/>
              <a:t> </a:t>
            </a:r>
            <a:r>
              <a:rPr lang="en-US" sz="1600" dirty="0"/>
              <a:t>(Service Message Block Daemon ) :</a:t>
            </a:r>
            <a:br>
              <a:rPr lang="en-US" sz="1600" dirty="0"/>
            </a:br>
            <a:br>
              <a:rPr lang="en-US" sz="1600" dirty="0"/>
            </a:br>
            <a:endParaRPr lang="en-US" sz="1600" dirty="0"/>
          </a:p>
        </p:txBody>
      </p:sp>
      <p:pic>
        <p:nvPicPr>
          <p:cNvPr id="5" name="Espace réservé du contenu 4">
            <a:extLst>
              <a:ext uri="{FF2B5EF4-FFF2-40B4-BE49-F238E27FC236}">
                <a16:creationId xmlns:a16="http://schemas.microsoft.com/office/drawing/2014/main" id="{E45B3D93-0575-4AD4-9466-8D99210749F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00138" y="876758"/>
            <a:ext cx="7796212" cy="552450"/>
          </a:xfrm>
        </p:spPr>
      </p:pic>
      <p:sp>
        <p:nvSpPr>
          <p:cNvPr id="6" name="Rectangle 5">
            <a:extLst>
              <a:ext uri="{FF2B5EF4-FFF2-40B4-BE49-F238E27FC236}">
                <a16:creationId xmlns:a16="http://schemas.microsoft.com/office/drawing/2014/main" id="{4DD11837-C990-4725-B8FA-612B7B6BB633}"/>
              </a:ext>
            </a:extLst>
          </p:cNvPr>
          <p:cNvSpPr/>
          <p:nvPr/>
        </p:nvSpPr>
        <p:spPr>
          <a:xfrm>
            <a:off x="646111" y="1429208"/>
            <a:ext cx="8496300" cy="10903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Ø"/>
            </a:pPr>
            <a:r>
              <a:rPr lang="en-US" sz="1600" b="1" dirty="0" err="1"/>
              <a:t>Activer</a:t>
            </a:r>
            <a:r>
              <a:rPr lang="en-US" sz="1600" b="1" dirty="0"/>
              <a:t> au </a:t>
            </a:r>
            <a:r>
              <a:rPr lang="en-US" sz="1600" b="1" dirty="0" err="1"/>
              <a:t>demarrage</a:t>
            </a:r>
            <a:r>
              <a:rPr lang="en-US" sz="1600" b="1" dirty="0"/>
              <a:t> : </a:t>
            </a:r>
            <a:r>
              <a:rPr lang="en-US" sz="1600" dirty="0"/>
              <a:t>pour que le service </a:t>
            </a:r>
            <a:r>
              <a:rPr lang="en-US" sz="1600" dirty="0" err="1"/>
              <a:t>demarre</a:t>
            </a:r>
            <a:r>
              <a:rPr lang="en-US" sz="1600" dirty="0"/>
              <a:t> </a:t>
            </a:r>
            <a:r>
              <a:rPr lang="en-US" sz="1600" dirty="0" err="1"/>
              <a:t>automatiquement</a:t>
            </a:r>
            <a:r>
              <a:rPr lang="en-US" sz="1600" dirty="0"/>
              <a:t> </a:t>
            </a:r>
            <a:r>
              <a:rPr lang="en-US" sz="1600" dirty="0" err="1"/>
              <a:t>apres</a:t>
            </a:r>
            <a:r>
              <a:rPr lang="en-US" sz="1600" dirty="0"/>
              <a:t> un </a:t>
            </a:r>
            <a:r>
              <a:rPr lang="en-US" sz="1600" dirty="0" err="1"/>
              <a:t>redemarrage</a:t>
            </a:r>
            <a:r>
              <a:rPr lang="en-US" sz="1600" dirty="0"/>
              <a:t> </a:t>
            </a:r>
          </a:p>
        </p:txBody>
      </p:sp>
      <p:pic>
        <p:nvPicPr>
          <p:cNvPr id="8" name="Image 7">
            <a:extLst>
              <a:ext uri="{FF2B5EF4-FFF2-40B4-BE49-F238E27FC236}">
                <a16:creationId xmlns:a16="http://schemas.microsoft.com/office/drawing/2014/main" id="{5A5BB652-82A2-4B47-B0EA-4A5FD6A839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2975" y="2306222"/>
            <a:ext cx="8382000" cy="781050"/>
          </a:xfrm>
          <a:prstGeom prst="rect">
            <a:avLst/>
          </a:prstGeom>
        </p:spPr>
      </p:pic>
      <p:sp>
        <p:nvSpPr>
          <p:cNvPr id="9" name="Rectangle 8">
            <a:extLst>
              <a:ext uri="{FF2B5EF4-FFF2-40B4-BE49-F238E27FC236}">
                <a16:creationId xmlns:a16="http://schemas.microsoft.com/office/drawing/2014/main" id="{934C0325-E141-49B7-BC15-702BF8C241E0}"/>
              </a:ext>
            </a:extLst>
          </p:cNvPr>
          <p:cNvSpPr/>
          <p:nvPr/>
        </p:nvSpPr>
        <p:spPr>
          <a:xfrm>
            <a:off x="646111" y="2796938"/>
            <a:ext cx="8629650" cy="9715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Ø"/>
            </a:pPr>
            <a:r>
              <a:rPr lang="en-US" sz="1600" b="1" dirty="0"/>
              <a:t>Verifier le status du service :</a:t>
            </a:r>
          </a:p>
        </p:txBody>
      </p:sp>
      <p:pic>
        <p:nvPicPr>
          <p:cNvPr id="11" name="Image 10">
            <a:extLst>
              <a:ext uri="{FF2B5EF4-FFF2-40B4-BE49-F238E27FC236}">
                <a16:creationId xmlns:a16="http://schemas.microsoft.com/office/drawing/2014/main" id="{18F1CDF0-916E-47FE-96D7-D02A88F7FEC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2975" y="3429000"/>
            <a:ext cx="8524875" cy="3362325"/>
          </a:xfrm>
          <a:prstGeom prst="rect">
            <a:avLst/>
          </a:prstGeom>
        </p:spPr>
      </p:pic>
    </p:spTree>
    <p:extLst>
      <p:ext uri="{BB962C8B-B14F-4D97-AF65-F5344CB8AC3E}">
        <p14:creationId xmlns:p14="http://schemas.microsoft.com/office/powerpoint/2010/main" val="21689175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F490C5D-24CC-093B-9480-DFA01A683817}"/>
              </a:ext>
            </a:extLst>
          </p:cNvPr>
          <p:cNvSpPr>
            <a:spLocks noGrp="1"/>
          </p:cNvSpPr>
          <p:nvPr>
            <p:ph type="title"/>
          </p:nvPr>
        </p:nvSpPr>
        <p:spPr/>
        <p:txBody>
          <a:bodyPr/>
          <a:lstStyle/>
          <a:p>
            <a:r>
              <a:rPr lang="en-US" dirty="0"/>
              <a:t>Connection de deux machine sur la meme reseau</a:t>
            </a:r>
          </a:p>
        </p:txBody>
      </p:sp>
      <p:sp>
        <p:nvSpPr>
          <p:cNvPr id="3" name="Espace réservé du contenu 2">
            <a:extLst>
              <a:ext uri="{FF2B5EF4-FFF2-40B4-BE49-F238E27FC236}">
                <a16:creationId xmlns:a16="http://schemas.microsoft.com/office/drawing/2014/main" id="{6BE2FEA0-1B9B-2775-9B51-8487B476172D}"/>
              </a:ext>
            </a:extLst>
          </p:cNvPr>
          <p:cNvSpPr>
            <a:spLocks noGrp="1"/>
          </p:cNvSpPr>
          <p:nvPr>
            <p:ph idx="1"/>
          </p:nvPr>
        </p:nvSpPr>
        <p:spPr/>
        <p:txBody>
          <a:bodyPr/>
          <a:lstStyle/>
          <a:p>
            <a:pPr marL="457200" indent="-457200">
              <a:buFont typeface="+mj-lt"/>
              <a:buAutoNum type="arabicPeriod"/>
            </a:pPr>
            <a:r>
              <a:rPr lang="en-US" dirty="0"/>
              <a:t>Assures que les deux machines utilisent la meme plage d’adresse IP et le meme masque de sous-réseau.</a:t>
            </a:r>
          </a:p>
          <a:p>
            <a:pPr marL="457200" indent="-457200">
              <a:buFont typeface="+mj-lt"/>
              <a:buAutoNum type="arabicPeriod"/>
            </a:pPr>
            <a:r>
              <a:rPr lang="en-US" dirty="0"/>
              <a:t>Utilisée “ping” pour tester la connectivité entre les deux machines .</a:t>
            </a:r>
          </a:p>
        </p:txBody>
      </p:sp>
      <p:sp>
        <p:nvSpPr>
          <p:cNvPr id="4" name="Rectangle 3">
            <a:extLst>
              <a:ext uri="{FF2B5EF4-FFF2-40B4-BE49-F238E27FC236}">
                <a16:creationId xmlns:a16="http://schemas.microsoft.com/office/drawing/2014/main" id="{72B9BCE0-7D3E-4E74-A9FD-87B174FAD228}"/>
              </a:ext>
            </a:extLst>
          </p:cNvPr>
          <p:cNvSpPr/>
          <p:nvPr/>
        </p:nvSpPr>
        <p:spPr>
          <a:xfrm>
            <a:off x="1539875" y="4110034"/>
            <a:ext cx="809625" cy="600075"/>
          </a:xfrm>
          <a:prstGeom prst="rect">
            <a:avLst/>
          </a:prstGeom>
          <a:solidFill>
            <a:srgbClr val="0070C0"/>
          </a:solidFill>
          <a:ln>
            <a:no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5" name="Rectangle 4">
            <a:extLst>
              <a:ext uri="{FF2B5EF4-FFF2-40B4-BE49-F238E27FC236}">
                <a16:creationId xmlns:a16="http://schemas.microsoft.com/office/drawing/2014/main" id="{FF3F74A8-A0BB-4034-992D-E6E95BB4C99C}"/>
              </a:ext>
            </a:extLst>
          </p:cNvPr>
          <p:cNvSpPr/>
          <p:nvPr/>
        </p:nvSpPr>
        <p:spPr>
          <a:xfrm>
            <a:off x="2379662" y="4119561"/>
            <a:ext cx="809625" cy="600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D51B34BA-1159-4BE2-A838-82F63358F38B}"/>
              </a:ext>
            </a:extLst>
          </p:cNvPr>
          <p:cNvSpPr/>
          <p:nvPr/>
        </p:nvSpPr>
        <p:spPr>
          <a:xfrm>
            <a:off x="1539875" y="4743448"/>
            <a:ext cx="809625" cy="600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439390C-8F08-491F-9774-281AE84A98A8}"/>
              </a:ext>
            </a:extLst>
          </p:cNvPr>
          <p:cNvSpPr/>
          <p:nvPr/>
        </p:nvSpPr>
        <p:spPr>
          <a:xfrm>
            <a:off x="2379662" y="4743449"/>
            <a:ext cx="809625" cy="6000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lèche : droite 12">
            <a:extLst>
              <a:ext uri="{FF2B5EF4-FFF2-40B4-BE49-F238E27FC236}">
                <a16:creationId xmlns:a16="http://schemas.microsoft.com/office/drawing/2014/main" id="{DBF87630-807B-47FA-9116-E4F4EF6A5E3B}"/>
              </a:ext>
            </a:extLst>
          </p:cNvPr>
          <p:cNvSpPr/>
          <p:nvPr/>
        </p:nvSpPr>
        <p:spPr>
          <a:xfrm>
            <a:off x="3625850" y="4349927"/>
            <a:ext cx="1971040" cy="446403"/>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lèche : droite 15">
            <a:extLst>
              <a:ext uri="{FF2B5EF4-FFF2-40B4-BE49-F238E27FC236}">
                <a16:creationId xmlns:a16="http://schemas.microsoft.com/office/drawing/2014/main" id="{40FC3249-7C6F-49F0-B8F7-010DA560464C}"/>
              </a:ext>
            </a:extLst>
          </p:cNvPr>
          <p:cNvSpPr/>
          <p:nvPr/>
        </p:nvSpPr>
        <p:spPr>
          <a:xfrm flipH="1">
            <a:off x="3520520" y="4820283"/>
            <a:ext cx="2066033" cy="446403"/>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Image 19">
            <a:extLst>
              <a:ext uri="{FF2B5EF4-FFF2-40B4-BE49-F238E27FC236}">
                <a16:creationId xmlns:a16="http://schemas.microsoft.com/office/drawing/2014/main" id="{B98EFED9-6013-419A-9C0A-7496E5964A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47334" y="4058202"/>
            <a:ext cx="1851811" cy="1303814"/>
          </a:xfrm>
          <a:prstGeom prst="rect">
            <a:avLst/>
          </a:prstGeom>
        </p:spPr>
      </p:pic>
    </p:spTree>
    <p:extLst>
      <p:ext uri="{BB962C8B-B14F-4D97-AF65-F5344CB8AC3E}">
        <p14:creationId xmlns:p14="http://schemas.microsoft.com/office/powerpoint/2010/main" val="39804468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ACE3730-1378-11D5-F205-396F162C56C7}"/>
              </a:ext>
            </a:extLst>
          </p:cNvPr>
          <p:cNvSpPr>
            <a:spLocks noGrp="1"/>
          </p:cNvSpPr>
          <p:nvPr>
            <p:ph type="title"/>
          </p:nvPr>
        </p:nvSpPr>
        <p:spPr>
          <a:xfrm>
            <a:off x="1108123" y="163963"/>
            <a:ext cx="9404723" cy="1400530"/>
          </a:xfrm>
        </p:spPr>
        <p:txBody>
          <a:bodyPr>
            <a:normAutofit fontScale="90000"/>
          </a:bodyPr>
          <a:lstStyle/>
          <a:p>
            <a:r>
              <a:rPr lang="en-US" b="0" dirty="0">
                <a:solidFill>
                  <a:schemeClr val="accent3">
                    <a:lumMod val="20000"/>
                    <a:lumOff val="80000"/>
                  </a:schemeClr>
                </a:solidFill>
                <a:effectLst/>
              </a:rPr>
              <a:t>Assures que les deux machines utilisent la meme plage d’adresse IP et le meme masque de sous-réseau</a:t>
            </a:r>
            <a:endParaRPr lang="en-US" dirty="0"/>
          </a:p>
        </p:txBody>
      </p:sp>
      <p:sp>
        <p:nvSpPr>
          <p:cNvPr id="3" name="Espace réservé du contenu 2">
            <a:extLst>
              <a:ext uri="{FF2B5EF4-FFF2-40B4-BE49-F238E27FC236}">
                <a16:creationId xmlns:a16="http://schemas.microsoft.com/office/drawing/2014/main" id="{ABE2A9F1-C964-A762-4EE3-D4BA1E23F2A0}"/>
              </a:ext>
            </a:extLst>
          </p:cNvPr>
          <p:cNvSpPr>
            <a:spLocks noGrp="1"/>
          </p:cNvSpPr>
          <p:nvPr>
            <p:ph idx="1"/>
          </p:nvPr>
        </p:nvSpPr>
        <p:spPr/>
        <p:txBody>
          <a:bodyPr/>
          <a:lstStyle/>
          <a:p>
            <a:pPr marL="0" indent="0">
              <a:buNone/>
            </a:pPr>
            <a:r>
              <a:rPr lang="fr-FR" dirty="0"/>
              <a:t>Pour utiliser la même plage d'adresses IP et le même masque de sous-réseau entre machine hôte Windows et  machine virtuelle kali-linux , suivez ces étapes :</a:t>
            </a:r>
          </a:p>
          <a:p>
            <a:pPr>
              <a:buFont typeface="Wingdings" panose="05000000000000000000" pitchFamily="2" charset="2"/>
              <a:buChar char="Ø"/>
            </a:pPr>
            <a:r>
              <a:rPr lang="fr-FR" dirty="0">
                <a:solidFill>
                  <a:schemeClr val="accent3">
                    <a:lumMod val="60000"/>
                    <a:lumOff val="40000"/>
                  </a:schemeClr>
                </a:solidFill>
              </a:rPr>
              <a:t>Obtenez l'adresse IP de votre machine Windows :</a:t>
            </a:r>
          </a:p>
          <a:p>
            <a:pPr marL="0" indent="0">
              <a:buNone/>
            </a:pPr>
            <a:r>
              <a:rPr lang="fr-FR" dirty="0"/>
              <a:t> - Ouvrez l'invite de commande (cmd) sur votre machine Windows.</a:t>
            </a:r>
          </a:p>
          <a:p>
            <a:pPr marL="0" indent="0">
              <a:buNone/>
            </a:pPr>
            <a:r>
              <a:rPr lang="fr-FR" dirty="0"/>
              <a:t> - Tapez ipconfig et notez l'adresse IPv4 de la carte réseau que vous utilisez.</a:t>
            </a:r>
          </a:p>
          <a:p>
            <a:pPr marL="0" indent="0">
              <a:buNone/>
            </a:pPr>
            <a:endParaRPr lang="en-US" dirty="0"/>
          </a:p>
        </p:txBody>
      </p:sp>
      <p:pic>
        <p:nvPicPr>
          <p:cNvPr id="5" name="Image 4">
            <a:extLst>
              <a:ext uri="{FF2B5EF4-FFF2-40B4-BE49-F238E27FC236}">
                <a16:creationId xmlns:a16="http://schemas.microsoft.com/office/drawing/2014/main" id="{8CE851BC-9555-1703-0F2D-004E93E5A4EF}"/>
              </a:ext>
            </a:extLst>
          </p:cNvPr>
          <p:cNvPicPr>
            <a:picLocks noChangeAspect="1"/>
          </p:cNvPicPr>
          <p:nvPr/>
        </p:nvPicPr>
        <p:blipFill>
          <a:blip r:embed="rId2">
            <a:extLst>
              <a:ext uri="{28A0092B-C50C-407E-A947-70E740481C1C}">
                <a14:useLocalDpi xmlns:a14="http://schemas.microsoft.com/office/drawing/2010/main" val="0"/>
              </a:ext>
            </a:extLst>
          </a:blip>
          <a:srcRect l="421" t="35576" r="-1" b="34968"/>
          <a:stretch/>
        </p:blipFill>
        <p:spPr>
          <a:xfrm>
            <a:off x="1206366" y="4672734"/>
            <a:ext cx="9779267" cy="2041252"/>
          </a:xfrm>
          <a:prstGeom prst="rect">
            <a:avLst/>
          </a:prstGeom>
        </p:spPr>
      </p:pic>
    </p:spTree>
    <p:extLst>
      <p:ext uri="{BB962C8B-B14F-4D97-AF65-F5344CB8AC3E}">
        <p14:creationId xmlns:p14="http://schemas.microsoft.com/office/powerpoint/2010/main" val="405687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FE1D1BF-0B24-9E5D-E797-AB4957964BA7}"/>
              </a:ext>
            </a:extLst>
          </p:cNvPr>
          <p:cNvSpPr/>
          <p:nvPr/>
        </p:nvSpPr>
        <p:spPr>
          <a:xfrm>
            <a:off x="721895" y="356135"/>
            <a:ext cx="9548261" cy="15881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 name="Espace réservé du contenu 2">
            <a:extLst>
              <a:ext uri="{FF2B5EF4-FFF2-40B4-BE49-F238E27FC236}">
                <a16:creationId xmlns:a16="http://schemas.microsoft.com/office/drawing/2014/main" id="{29F32170-A570-ED7A-988C-FFE718519800}"/>
              </a:ext>
            </a:extLst>
          </p:cNvPr>
          <p:cNvSpPr>
            <a:spLocks noGrp="1"/>
          </p:cNvSpPr>
          <p:nvPr>
            <p:ph idx="1"/>
          </p:nvPr>
        </p:nvSpPr>
        <p:spPr>
          <a:xfrm>
            <a:off x="910807" y="262619"/>
            <a:ext cx="8946541" cy="4195481"/>
          </a:xfrm>
        </p:spPr>
        <p:txBody>
          <a:bodyPr/>
          <a:lstStyle/>
          <a:p>
            <a:pPr>
              <a:buFont typeface="Wingdings" panose="05000000000000000000" pitchFamily="2" charset="2"/>
              <a:buChar char="Ø"/>
            </a:pPr>
            <a:r>
              <a:rPr lang="fr-FR" dirty="0">
                <a:solidFill>
                  <a:schemeClr val="accent3">
                    <a:lumMod val="60000"/>
                    <a:lumOff val="40000"/>
                  </a:schemeClr>
                </a:solidFill>
              </a:rPr>
              <a:t>Configurez l'interface réseau de votre machine virtuelle kali-</a:t>
            </a:r>
            <a:r>
              <a:rPr lang="fr-FR" dirty="0" err="1">
                <a:solidFill>
                  <a:schemeClr val="accent3">
                    <a:lumMod val="60000"/>
                    <a:lumOff val="40000"/>
                  </a:schemeClr>
                </a:solidFill>
              </a:rPr>
              <a:t>lunix</a:t>
            </a:r>
            <a:r>
              <a:rPr lang="fr-FR" dirty="0">
                <a:solidFill>
                  <a:schemeClr val="accent3">
                    <a:lumMod val="60000"/>
                    <a:lumOff val="40000"/>
                  </a:schemeClr>
                </a:solidFill>
              </a:rPr>
              <a:t>  </a:t>
            </a:r>
            <a:r>
              <a:rPr lang="fr-FR" dirty="0"/>
              <a:t>:</a:t>
            </a:r>
          </a:p>
          <a:p>
            <a:pPr marL="0" indent="0">
              <a:buNone/>
            </a:pPr>
            <a:r>
              <a:rPr lang="fr-FR" dirty="0"/>
              <a:t>   - Ouvrez les paramètres réseau de votre machine virtuelle </a:t>
            </a:r>
          </a:p>
          <a:p>
            <a:pPr marL="0" indent="0">
              <a:buNone/>
            </a:pPr>
            <a:r>
              <a:rPr lang="fr-FR" dirty="0"/>
              <a:t>   - Configurez l'interface réseau en Host-</a:t>
            </a:r>
            <a:r>
              <a:rPr lang="fr-FR" dirty="0" err="1"/>
              <a:t>Only</a:t>
            </a:r>
            <a:r>
              <a:rPr lang="fr-FR" dirty="0"/>
              <a:t> Adapter ou </a:t>
            </a:r>
            <a:r>
              <a:rPr lang="fr-FR" dirty="0" err="1"/>
              <a:t>Bridged</a:t>
            </a:r>
            <a:r>
              <a:rPr lang="fr-FR" dirty="0"/>
              <a:t> Adapter</a:t>
            </a:r>
          </a:p>
          <a:p>
            <a:pPr marL="0" indent="0">
              <a:buNone/>
            </a:pPr>
            <a:endParaRPr lang="fr-FR" dirty="0"/>
          </a:p>
        </p:txBody>
      </p:sp>
      <p:pic>
        <p:nvPicPr>
          <p:cNvPr id="10" name="Image 9">
            <a:extLst>
              <a:ext uri="{FF2B5EF4-FFF2-40B4-BE49-F238E27FC236}">
                <a16:creationId xmlns:a16="http://schemas.microsoft.com/office/drawing/2014/main" id="{BDA6894B-CE97-A208-9808-87A8E68A5D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8299" y="1828604"/>
            <a:ext cx="9548261" cy="5029396"/>
          </a:xfrm>
          <a:prstGeom prst="rect">
            <a:avLst/>
          </a:prstGeom>
        </p:spPr>
      </p:pic>
    </p:spTree>
    <p:extLst>
      <p:ext uri="{BB962C8B-B14F-4D97-AF65-F5344CB8AC3E}">
        <p14:creationId xmlns:p14="http://schemas.microsoft.com/office/powerpoint/2010/main" val="10094682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Espace réservé du contenu 12">
            <a:extLst>
              <a:ext uri="{FF2B5EF4-FFF2-40B4-BE49-F238E27FC236}">
                <a16:creationId xmlns:a16="http://schemas.microsoft.com/office/drawing/2014/main" id="{79A2E5B0-079D-A6A2-C800-9409031D3412}"/>
              </a:ext>
            </a:extLst>
          </p:cNvPr>
          <p:cNvSpPr>
            <a:spLocks noGrp="1"/>
          </p:cNvSpPr>
          <p:nvPr>
            <p:ph idx="1"/>
          </p:nvPr>
        </p:nvSpPr>
        <p:spPr>
          <a:xfrm>
            <a:off x="548641" y="609600"/>
            <a:ext cx="10800080" cy="5001928"/>
          </a:xfrm>
        </p:spPr>
        <p:txBody>
          <a:bodyPr>
            <a:normAutofit/>
          </a:bodyPr>
          <a:lstStyle/>
          <a:p>
            <a:pPr marL="0" indent="0">
              <a:buNone/>
            </a:pPr>
            <a:endParaRPr lang="fr-FR" dirty="0"/>
          </a:p>
          <a:p>
            <a:pPr marL="0" indent="0">
              <a:buNone/>
            </a:pPr>
            <a:r>
              <a:rPr lang="fr-FR" dirty="0"/>
              <a:t>- Entrez une adresse IP dans la même plage que votre machine Windows, mais</a:t>
            </a:r>
          </a:p>
          <a:p>
            <a:pPr marL="0" indent="0">
              <a:buNone/>
            </a:pPr>
            <a:r>
              <a:rPr lang="fr-FR" dirty="0"/>
              <a:t>assurez-vous qu'elle est unique. Par exemple, si votre machine Windows a l'adresse 192.168.154.1, vous pouvez attribuer 192.168.154.7 à votre machine virtuelle kali-</a:t>
            </a:r>
            <a:r>
              <a:rPr lang="fr-FR" dirty="0" err="1"/>
              <a:t>lunix</a:t>
            </a:r>
            <a:r>
              <a:rPr lang="fr-FR" dirty="0"/>
              <a:t> .</a:t>
            </a:r>
          </a:p>
          <a:p>
            <a:pPr marL="0" indent="0">
              <a:buNone/>
            </a:pPr>
            <a:endParaRPr lang="fr-FR" dirty="0"/>
          </a:p>
          <a:p>
            <a:pPr marL="0" indent="0">
              <a:buNone/>
            </a:pPr>
            <a:r>
              <a:rPr lang="fr-FR" dirty="0"/>
              <a:t> </a:t>
            </a:r>
          </a:p>
          <a:p>
            <a:pPr marL="0" indent="0">
              <a:buNone/>
            </a:pPr>
            <a:r>
              <a:rPr lang="fr-FR" dirty="0"/>
              <a:t> </a:t>
            </a:r>
          </a:p>
          <a:p>
            <a:pPr marL="0" indent="0">
              <a:buNone/>
            </a:pPr>
            <a:endParaRPr lang="fr-FR" dirty="0"/>
          </a:p>
          <a:p>
            <a:pPr marL="0" indent="0">
              <a:buNone/>
            </a:pPr>
            <a:endParaRPr lang="fr-FR" dirty="0"/>
          </a:p>
          <a:p>
            <a:pPr marL="0" indent="0">
              <a:buNone/>
            </a:pPr>
            <a:endParaRPr lang="fr-FR" dirty="0"/>
          </a:p>
          <a:p>
            <a:pPr marL="0" indent="0">
              <a:buNone/>
            </a:pPr>
            <a:r>
              <a:rPr lang="fr-FR" dirty="0"/>
              <a:t> </a:t>
            </a:r>
            <a:endParaRPr lang="en-US" dirty="0"/>
          </a:p>
        </p:txBody>
      </p:sp>
      <p:pic>
        <p:nvPicPr>
          <p:cNvPr id="4" name="Image 3">
            <a:extLst>
              <a:ext uri="{FF2B5EF4-FFF2-40B4-BE49-F238E27FC236}">
                <a16:creationId xmlns:a16="http://schemas.microsoft.com/office/drawing/2014/main" id="{79D35D68-C9F3-37DE-562F-62878F4E44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9223" y="2254938"/>
            <a:ext cx="10649497" cy="654084"/>
          </a:xfrm>
          <a:prstGeom prst="rect">
            <a:avLst/>
          </a:prstGeom>
        </p:spPr>
      </p:pic>
      <p:pic>
        <p:nvPicPr>
          <p:cNvPr id="8" name="Image 7">
            <a:extLst>
              <a:ext uri="{FF2B5EF4-FFF2-40B4-BE49-F238E27FC236}">
                <a16:creationId xmlns:a16="http://schemas.microsoft.com/office/drawing/2014/main" id="{0D38C98C-A183-C00C-2DAC-1E4CFD65C1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9224" y="2909023"/>
            <a:ext cx="10649497" cy="3097141"/>
          </a:xfrm>
          <a:prstGeom prst="rect">
            <a:avLst/>
          </a:prstGeom>
        </p:spPr>
      </p:pic>
      <p:pic>
        <p:nvPicPr>
          <p:cNvPr id="10" name="Image 9">
            <a:extLst>
              <a:ext uri="{FF2B5EF4-FFF2-40B4-BE49-F238E27FC236}">
                <a16:creationId xmlns:a16="http://schemas.microsoft.com/office/drawing/2014/main" id="{F359903C-8DDB-6512-1DC6-FEFF084E424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9223" y="6237550"/>
            <a:ext cx="10649497" cy="495325"/>
          </a:xfrm>
          <a:prstGeom prst="rect">
            <a:avLst/>
          </a:prstGeom>
        </p:spPr>
      </p:pic>
    </p:spTree>
    <p:extLst>
      <p:ext uri="{BB962C8B-B14F-4D97-AF65-F5344CB8AC3E}">
        <p14:creationId xmlns:p14="http://schemas.microsoft.com/office/powerpoint/2010/main" val="42480677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989DCF13-B233-58FC-9E66-FCF21DB74963}"/>
              </a:ext>
            </a:extLst>
          </p:cNvPr>
          <p:cNvSpPr>
            <a:spLocks noGrp="1"/>
          </p:cNvSpPr>
          <p:nvPr>
            <p:ph type="title"/>
          </p:nvPr>
        </p:nvSpPr>
        <p:spPr>
          <a:xfrm>
            <a:off x="596164" y="94550"/>
            <a:ext cx="10353761" cy="1326321"/>
          </a:xfrm>
        </p:spPr>
        <p:txBody>
          <a:bodyPr/>
          <a:lstStyle/>
          <a:p>
            <a:r>
              <a:rPr lang="en-US" dirty="0">
                <a:solidFill>
                  <a:schemeClr val="tx1"/>
                </a:solidFill>
              </a:rPr>
              <a:t>Utilisée “ping” pour tester la connectivité entre les deux machines</a:t>
            </a:r>
          </a:p>
        </p:txBody>
      </p:sp>
      <p:sp>
        <p:nvSpPr>
          <p:cNvPr id="3" name="ZoneTexte 2">
            <a:extLst>
              <a:ext uri="{FF2B5EF4-FFF2-40B4-BE49-F238E27FC236}">
                <a16:creationId xmlns:a16="http://schemas.microsoft.com/office/drawing/2014/main" id="{F3A1EFBF-7253-BB78-3218-BE41BBDBB44E}"/>
              </a:ext>
            </a:extLst>
          </p:cNvPr>
          <p:cNvSpPr txBox="1"/>
          <p:nvPr/>
        </p:nvSpPr>
        <p:spPr>
          <a:xfrm>
            <a:off x="1095071" y="1426370"/>
            <a:ext cx="9188315" cy="923330"/>
          </a:xfrm>
          <a:prstGeom prst="rect">
            <a:avLst/>
          </a:prstGeom>
          <a:noFill/>
        </p:spPr>
        <p:txBody>
          <a:bodyPr wrap="square">
            <a:spAutoFit/>
          </a:bodyPr>
          <a:lstStyle/>
          <a:p>
            <a:r>
              <a:rPr lang="en-US" dirty="0"/>
              <a:t> - Sur votre machine </a:t>
            </a:r>
            <a:r>
              <a:rPr lang="en-US" dirty="0" err="1"/>
              <a:t>virtuelle</a:t>
            </a:r>
            <a:r>
              <a:rPr lang="en-US" dirty="0"/>
              <a:t> Kali-</a:t>
            </a:r>
            <a:r>
              <a:rPr lang="en-US" dirty="0" err="1"/>
              <a:t>linux</a:t>
            </a:r>
            <a:r>
              <a:rPr lang="en-US" dirty="0"/>
              <a:t>, ouvrez un terminal.   </a:t>
            </a:r>
          </a:p>
          <a:p>
            <a:r>
              <a:rPr lang="en-US" dirty="0"/>
              <a:t>- Utilisez la commande ping pour tester la connectivité avec l'adresse IP de votre machine Windows. Et meme chose pour votre machine windows</a:t>
            </a:r>
          </a:p>
        </p:txBody>
      </p:sp>
      <p:pic>
        <p:nvPicPr>
          <p:cNvPr id="8" name="Image 7">
            <a:extLst>
              <a:ext uri="{FF2B5EF4-FFF2-40B4-BE49-F238E27FC236}">
                <a16:creationId xmlns:a16="http://schemas.microsoft.com/office/drawing/2014/main" id="{B218D108-3834-7938-95F6-A8DD09E142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4224" y="2349700"/>
            <a:ext cx="9083540" cy="2079827"/>
          </a:xfrm>
          <a:prstGeom prst="rect">
            <a:avLst/>
          </a:prstGeom>
        </p:spPr>
      </p:pic>
      <p:pic>
        <p:nvPicPr>
          <p:cNvPr id="11" name="Image 10">
            <a:extLst>
              <a:ext uri="{FF2B5EF4-FFF2-40B4-BE49-F238E27FC236}">
                <a16:creationId xmlns:a16="http://schemas.microsoft.com/office/drawing/2014/main" id="{5E61385D-FEDF-E867-6A4E-B56570DE26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6611" y="4529620"/>
            <a:ext cx="8925233" cy="2079827"/>
          </a:xfrm>
          <a:prstGeom prst="rect">
            <a:avLst/>
          </a:prstGeom>
        </p:spPr>
      </p:pic>
      <p:sp>
        <p:nvSpPr>
          <p:cNvPr id="5" name="ZoneTexte 4">
            <a:extLst>
              <a:ext uri="{FF2B5EF4-FFF2-40B4-BE49-F238E27FC236}">
                <a16:creationId xmlns:a16="http://schemas.microsoft.com/office/drawing/2014/main" id="{52C93EE4-059C-A62E-9F50-0103DD45E13A}"/>
              </a:ext>
            </a:extLst>
          </p:cNvPr>
          <p:cNvSpPr txBox="1"/>
          <p:nvPr/>
        </p:nvSpPr>
        <p:spPr>
          <a:xfrm>
            <a:off x="1241659" y="2349700"/>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10695960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0E2FEC2-83E4-46C0-10E0-BC0FB360A35E}"/>
              </a:ext>
            </a:extLst>
          </p:cNvPr>
          <p:cNvSpPr>
            <a:spLocks noGrp="1"/>
          </p:cNvSpPr>
          <p:nvPr>
            <p:ph type="title"/>
          </p:nvPr>
        </p:nvSpPr>
        <p:spPr/>
        <p:txBody>
          <a:bodyPr/>
          <a:lstStyle/>
          <a:p>
            <a:r>
              <a:rPr lang="en-US" dirty="0"/>
              <a:t>Partage de fichiers</a:t>
            </a:r>
          </a:p>
        </p:txBody>
      </p:sp>
      <p:sp>
        <p:nvSpPr>
          <p:cNvPr id="3" name="Espace réservé du contenu 2">
            <a:extLst>
              <a:ext uri="{FF2B5EF4-FFF2-40B4-BE49-F238E27FC236}">
                <a16:creationId xmlns:a16="http://schemas.microsoft.com/office/drawing/2014/main" id="{F0123C12-B1A2-A614-62CA-F14ED3F8E2DE}"/>
              </a:ext>
            </a:extLst>
          </p:cNvPr>
          <p:cNvSpPr>
            <a:spLocks noGrp="1"/>
          </p:cNvSpPr>
          <p:nvPr>
            <p:ph idx="1"/>
          </p:nvPr>
        </p:nvSpPr>
        <p:spPr>
          <a:xfrm>
            <a:off x="1026310" y="1331259"/>
            <a:ext cx="8946541" cy="4195481"/>
          </a:xfrm>
        </p:spPr>
        <p:txBody>
          <a:bodyPr/>
          <a:lstStyle/>
          <a:p>
            <a:pPr>
              <a:buFont typeface="Wingdings" panose="05000000000000000000" pitchFamily="2" charset="2"/>
              <a:buChar char="v"/>
            </a:pPr>
            <a:r>
              <a:rPr lang="en-US" dirty="0">
                <a:solidFill>
                  <a:schemeClr val="accent3">
                    <a:lumMod val="60000"/>
                    <a:lumOff val="40000"/>
                  </a:schemeClr>
                </a:solidFill>
              </a:rPr>
              <a:t>Creation de repertoires de partage :</a:t>
            </a:r>
          </a:p>
          <a:p>
            <a:pPr marL="0" indent="0">
              <a:buNone/>
            </a:pPr>
            <a:endParaRPr lang="en-US" dirty="0">
              <a:solidFill>
                <a:schemeClr val="accent3">
                  <a:lumMod val="60000"/>
                  <a:lumOff val="40000"/>
                </a:schemeClr>
              </a:solidFill>
            </a:endParaRPr>
          </a:p>
          <a:p>
            <a:pPr marL="0" indent="0">
              <a:buNone/>
            </a:pPr>
            <a:endParaRPr lang="en-US" dirty="0">
              <a:solidFill>
                <a:schemeClr val="accent3">
                  <a:lumMod val="60000"/>
                  <a:lumOff val="40000"/>
                </a:schemeClr>
              </a:solidFill>
            </a:endParaRPr>
          </a:p>
          <a:p>
            <a:pPr>
              <a:buFont typeface="Wingdings" panose="05000000000000000000" pitchFamily="2" charset="2"/>
              <a:buChar char="v"/>
            </a:pPr>
            <a:r>
              <a:rPr lang="en-US" dirty="0" err="1">
                <a:solidFill>
                  <a:schemeClr val="accent3">
                    <a:lumMod val="60000"/>
                    <a:lumOff val="40000"/>
                  </a:schemeClr>
                </a:solidFill>
              </a:rPr>
              <a:t>Configurer</a:t>
            </a:r>
            <a:r>
              <a:rPr lang="en-US" dirty="0">
                <a:solidFill>
                  <a:schemeClr val="accent3">
                    <a:lumMod val="60000"/>
                    <a:lumOff val="40000"/>
                  </a:schemeClr>
                </a:solidFill>
              </a:rPr>
              <a:t> le partage de fichiers</a:t>
            </a:r>
            <a:r>
              <a:rPr lang="en-US" dirty="0"/>
              <a:t>:</a:t>
            </a:r>
          </a:p>
          <a:p>
            <a:pPr marL="0" indent="0">
              <a:buNone/>
            </a:pPr>
            <a:r>
              <a:rPr lang="en-US" dirty="0"/>
              <a:t>Ouvrez le fichier de configuration de samba pour le modifier:</a:t>
            </a:r>
          </a:p>
          <a:p>
            <a:pPr marL="0" indent="0">
              <a:buNone/>
            </a:pPr>
            <a:r>
              <a:rPr lang="en-US" dirty="0"/>
              <a:t>$ sudo nano /etc/samba/smb.conf</a:t>
            </a:r>
          </a:p>
          <a:p>
            <a:pPr marL="0" indent="0">
              <a:buNone/>
            </a:pPr>
            <a:endParaRPr lang="en-US" dirty="0">
              <a:solidFill>
                <a:schemeClr val="accent5">
                  <a:lumMod val="75000"/>
                </a:schemeClr>
              </a:solidFill>
            </a:endParaRPr>
          </a:p>
          <a:p>
            <a:pPr marL="0" indent="0">
              <a:buNone/>
            </a:pPr>
            <a:endParaRPr lang="en-US" dirty="0">
              <a:solidFill>
                <a:schemeClr val="accent5">
                  <a:lumMod val="75000"/>
                </a:schemeClr>
              </a:solidFill>
            </a:endParaRPr>
          </a:p>
        </p:txBody>
      </p:sp>
      <p:pic>
        <p:nvPicPr>
          <p:cNvPr id="6" name="Image 5">
            <a:extLst>
              <a:ext uri="{FF2B5EF4-FFF2-40B4-BE49-F238E27FC236}">
                <a16:creationId xmlns:a16="http://schemas.microsoft.com/office/drawing/2014/main" id="{8D70E3B0-D8EE-BA43-8675-563A456FDC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6310" y="1752015"/>
            <a:ext cx="10239991" cy="940464"/>
          </a:xfrm>
          <a:prstGeom prst="rect">
            <a:avLst/>
          </a:prstGeom>
        </p:spPr>
      </p:pic>
      <p:pic>
        <p:nvPicPr>
          <p:cNvPr id="9" name="Image 8">
            <a:extLst>
              <a:ext uri="{FF2B5EF4-FFF2-40B4-BE49-F238E27FC236}">
                <a16:creationId xmlns:a16="http://schemas.microsoft.com/office/drawing/2014/main" id="{67B9F746-D69C-16AD-495F-0FDC1F07895C}"/>
              </a:ext>
            </a:extLst>
          </p:cNvPr>
          <p:cNvPicPr>
            <a:picLocks noChangeAspect="1"/>
          </p:cNvPicPr>
          <p:nvPr/>
        </p:nvPicPr>
        <p:blipFill>
          <a:blip r:embed="rId3">
            <a:extLst>
              <a:ext uri="{28A0092B-C50C-407E-A947-70E740481C1C}">
                <a14:useLocalDpi xmlns:a14="http://schemas.microsoft.com/office/drawing/2010/main" val="0"/>
              </a:ext>
            </a:extLst>
          </a:blip>
          <a:srcRect t="805" r="55296" b="16887"/>
          <a:stretch/>
        </p:blipFill>
        <p:spPr>
          <a:xfrm>
            <a:off x="1026311" y="3878982"/>
            <a:ext cx="9503727" cy="2947056"/>
          </a:xfrm>
          <a:prstGeom prst="rect">
            <a:avLst/>
          </a:prstGeom>
        </p:spPr>
      </p:pic>
    </p:spTree>
    <p:extLst>
      <p:ext uri="{BB962C8B-B14F-4D97-AF65-F5344CB8AC3E}">
        <p14:creationId xmlns:p14="http://schemas.microsoft.com/office/powerpoint/2010/main" val="36957425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C5FA98A-A3F7-4E28-B73B-D2D87D1F4830}"/>
              </a:ext>
            </a:extLst>
          </p:cNvPr>
          <p:cNvSpPr>
            <a:spLocks noGrp="1"/>
          </p:cNvSpPr>
          <p:nvPr>
            <p:ph type="title"/>
          </p:nvPr>
        </p:nvSpPr>
        <p:spPr/>
        <p:txBody>
          <a:bodyPr/>
          <a:lstStyle/>
          <a:p>
            <a:pPr marL="285750" indent="-285750">
              <a:buFont typeface="Wingdings" panose="05000000000000000000" pitchFamily="2" charset="2"/>
              <a:buChar char="Ø"/>
            </a:pPr>
            <a:r>
              <a:rPr lang="en-US" sz="1600" b="1" dirty="0"/>
              <a:t>Verifier la configuration des </a:t>
            </a:r>
            <a:r>
              <a:rPr lang="en-US" sz="1600" b="1" dirty="0" err="1"/>
              <a:t>fichiers</a:t>
            </a:r>
            <a:r>
              <a:rPr lang="en-US" sz="1600" b="1" dirty="0"/>
              <a:t> de partage Par la </a:t>
            </a:r>
            <a:r>
              <a:rPr lang="en-US" sz="1600" b="1" dirty="0" err="1"/>
              <a:t>commande</a:t>
            </a:r>
            <a:r>
              <a:rPr lang="en-US" sz="1600" b="1" dirty="0"/>
              <a:t> </a:t>
            </a:r>
            <a:r>
              <a:rPr lang="en-US" sz="1600" b="1" dirty="0" err="1"/>
              <a:t>testparm</a:t>
            </a:r>
            <a:r>
              <a:rPr lang="en-US" sz="1600" b="1" dirty="0"/>
              <a:t> :</a:t>
            </a:r>
            <a:br>
              <a:rPr lang="en-US" sz="1600" b="1" dirty="0"/>
            </a:br>
            <a:r>
              <a:rPr lang="en-US" sz="1600" b="1" dirty="0"/>
              <a:t> </a:t>
            </a:r>
            <a:r>
              <a:rPr lang="en-US" sz="1600" dirty="0"/>
              <a:t>La configuration </a:t>
            </a:r>
            <a:r>
              <a:rPr lang="en-US" sz="1600" dirty="0" err="1"/>
              <a:t>est</a:t>
            </a:r>
            <a:r>
              <a:rPr lang="en-US" sz="1600" dirty="0"/>
              <a:t> acceptable </a:t>
            </a:r>
            <a:r>
              <a:rPr lang="en-US" sz="1600" dirty="0" err="1"/>
              <a:t>si</a:t>
            </a:r>
            <a:r>
              <a:rPr lang="en-US" sz="1600" dirty="0"/>
              <a:t> la </a:t>
            </a:r>
            <a:r>
              <a:rPr lang="en-US" sz="1600" dirty="0" err="1"/>
              <a:t>commande</a:t>
            </a:r>
            <a:r>
              <a:rPr lang="en-US" sz="1600" dirty="0"/>
              <a:t> </a:t>
            </a:r>
            <a:r>
              <a:rPr lang="en-US" sz="1600" dirty="0" err="1"/>
              <a:t>testparm</a:t>
            </a:r>
            <a:r>
              <a:rPr lang="en-US" sz="1600" dirty="0"/>
              <a:t> affiche </a:t>
            </a:r>
            <a:br>
              <a:rPr lang="en-US" sz="1600" dirty="0"/>
            </a:br>
            <a:r>
              <a:rPr lang="en-US" sz="1600" dirty="0"/>
              <a:t>					(Loaded services file OK.)</a:t>
            </a:r>
            <a:endParaRPr lang="en-US" sz="1600" b="1" dirty="0"/>
          </a:p>
        </p:txBody>
      </p:sp>
      <p:pic>
        <p:nvPicPr>
          <p:cNvPr id="5" name="Image 4">
            <a:extLst>
              <a:ext uri="{FF2B5EF4-FFF2-40B4-BE49-F238E27FC236}">
                <a16:creationId xmlns:a16="http://schemas.microsoft.com/office/drawing/2014/main" id="{E86C0E0D-C612-4613-9840-7C5855268F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6111" y="1632108"/>
            <a:ext cx="10164664" cy="3593783"/>
          </a:xfrm>
          <a:prstGeom prst="rect">
            <a:avLst/>
          </a:prstGeom>
        </p:spPr>
      </p:pic>
    </p:spTree>
    <p:extLst>
      <p:ext uri="{BB962C8B-B14F-4D97-AF65-F5344CB8AC3E}">
        <p14:creationId xmlns:p14="http://schemas.microsoft.com/office/powerpoint/2010/main" val="6604635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245D6EA-907E-D11E-BA71-371FBDD4B03F}"/>
              </a:ext>
            </a:extLst>
          </p:cNvPr>
          <p:cNvSpPr>
            <a:spLocks noGrp="1"/>
          </p:cNvSpPr>
          <p:nvPr>
            <p:ph idx="1"/>
          </p:nvPr>
        </p:nvSpPr>
        <p:spPr>
          <a:xfrm>
            <a:off x="585620" y="976276"/>
            <a:ext cx="6585201" cy="5181600"/>
          </a:xfrm>
        </p:spPr>
        <p:txBody>
          <a:bodyPr>
            <a:normAutofit/>
          </a:bodyPr>
          <a:lstStyle/>
          <a:p>
            <a:pPr>
              <a:buFont typeface="Wingdings" panose="05000000000000000000" pitchFamily="2" charset="2"/>
              <a:buChar char="v"/>
            </a:pPr>
            <a:r>
              <a:rPr lang="en-US" dirty="0" err="1"/>
              <a:t>Création</a:t>
            </a:r>
            <a:r>
              <a:rPr lang="en-US" dirty="0"/>
              <a:t>  des </a:t>
            </a:r>
            <a:r>
              <a:rPr lang="en-US" dirty="0" err="1"/>
              <a:t>utilisateurs</a:t>
            </a:r>
            <a:r>
              <a:rPr lang="en-US" dirty="0"/>
              <a:t> samba et des groups :</a:t>
            </a:r>
          </a:p>
          <a:p>
            <a:pPr marL="0" indent="0">
              <a:buNone/>
            </a:pPr>
            <a:r>
              <a:rPr lang="en-US" dirty="0"/>
              <a:t>$ </a:t>
            </a:r>
            <a:r>
              <a:rPr lang="en-US" dirty="0" err="1"/>
              <a:t>sudo</a:t>
            </a:r>
            <a:r>
              <a:rPr lang="en-US" dirty="0"/>
              <a:t> </a:t>
            </a:r>
            <a:r>
              <a:rPr lang="en-US" dirty="0" err="1"/>
              <a:t>useradd</a:t>
            </a:r>
            <a:r>
              <a:rPr lang="en-US" dirty="0"/>
              <a:t> </a:t>
            </a:r>
            <a:r>
              <a:rPr lang="en-US" dirty="0" err="1"/>
              <a:t>nom_utilisateur</a:t>
            </a:r>
            <a:endParaRPr lang="en-US" dirty="0"/>
          </a:p>
          <a:p>
            <a:pPr marL="0" indent="0">
              <a:buNone/>
            </a:pPr>
            <a:r>
              <a:rPr lang="en-US" dirty="0"/>
              <a:t>$ sudo smbpasswd –a </a:t>
            </a:r>
            <a:r>
              <a:rPr lang="en-US" dirty="0" err="1"/>
              <a:t>nom_utilisateur</a:t>
            </a:r>
            <a:endParaRPr lang="en-US" dirty="0"/>
          </a:p>
          <a:p>
            <a:pPr marL="0" indent="0">
              <a:buNone/>
            </a:pPr>
            <a:r>
              <a:rPr lang="en-US" dirty="0"/>
              <a:t>$ </a:t>
            </a:r>
            <a:r>
              <a:rPr lang="en-US" dirty="0" err="1"/>
              <a:t>sudo</a:t>
            </a:r>
            <a:r>
              <a:rPr lang="en-US" dirty="0"/>
              <a:t>  </a:t>
            </a:r>
            <a:r>
              <a:rPr lang="en-US" dirty="0" err="1"/>
              <a:t>groupadd</a:t>
            </a:r>
            <a:r>
              <a:rPr lang="en-US" dirty="0"/>
              <a:t>  </a:t>
            </a:r>
            <a:r>
              <a:rPr lang="en-US" dirty="0" err="1"/>
              <a:t>nom_groupe</a:t>
            </a:r>
            <a:endParaRPr lang="en-US" dirty="0"/>
          </a:p>
          <a:p>
            <a:pPr marL="0" indent="0">
              <a:buNone/>
            </a:pPr>
            <a:r>
              <a:rPr lang="en-US" dirty="0"/>
              <a:t>$ </a:t>
            </a:r>
            <a:r>
              <a:rPr lang="en-US" dirty="0" err="1"/>
              <a:t>sudo</a:t>
            </a:r>
            <a:r>
              <a:rPr lang="en-US" dirty="0"/>
              <a:t>  </a:t>
            </a:r>
            <a:r>
              <a:rPr lang="en-US" dirty="0" err="1"/>
              <a:t>usermod</a:t>
            </a:r>
            <a:r>
              <a:rPr lang="en-US" dirty="0"/>
              <a:t>  –</a:t>
            </a:r>
            <a:r>
              <a:rPr lang="en-US" dirty="0" err="1"/>
              <a:t>aG</a:t>
            </a:r>
            <a:r>
              <a:rPr lang="en-US" dirty="0"/>
              <a:t> </a:t>
            </a:r>
            <a:r>
              <a:rPr lang="en-US" dirty="0" err="1"/>
              <a:t>nom_groupe</a:t>
            </a:r>
            <a:r>
              <a:rPr lang="en-US" dirty="0"/>
              <a:t>  </a:t>
            </a:r>
            <a:r>
              <a:rPr lang="en-US" dirty="0" err="1"/>
              <a:t>nom_utilisateur</a:t>
            </a:r>
            <a:r>
              <a:rPr lang="en-US" dirty="0"/>
              <a:t> </a:t>
            </a:r>
          </a:p>
          <a:p>
            <a:pPr marL="0" indent="0">
              <a:buNone/>
            </a:pPr>
            <a:endParaRPr lang="en-US" dirty="0"/>
          </a:p>
          <a:p>
            <a:pPr>
              <a:buFont typeface="Wingdings" panose="05000000000000000000" pitchFamily="2" charset="2"/>
              <a:buChar char="v"/>
            </a:pPr>
            <a:r>
              <a:rPr lang="en-US" dirty="0"/>
              <a:t>Redemarer le service samba:</a:t>
            </a:r>
          </a:p>
          <a:p>
            <a:pPr marL="0" indent="0">
              <a:buNone/>
            </a:pPr>
            <a:r>
              <a:rPr lang="en-US" dirty="0"/>
              <a:t>$ </a:t>
            </a:r>
            <a:r>
              <a:rPr lang="en-US" dirty="0" err="1"/>
              <a:t>sudo</a:t>
            </a:r>
            <a:r>
              <a:rPr lang="en-US" dirty="0"/>
              <a:t> </a:t>
            </a:r>
            <a:r>
              <a:rPr lang="en-US" dirty="0" err="1"/>
              <a:t>systemctl</a:t>
            </a:r>
            <a:r>
              <a:rPr lang="en-US" dirty="0"/>
              <a:t> restart </a:t>
            </a:r>
            <a:r>
              <a:rPr lang="en-US" dirty="0" err="1"/>
              <a:t>smbd</a:t>
            </a:r>
            <a:r>
              <a:rPr lang="en-US" dirty="0"/>
              <a:t> </a:t>
            </a:r>
          </a:p>
        </p:txBody>
      </p:sp>
      <p:pic>
        <p:nvPicPr>
          <p:cNvPr id="4" name="Image 3">
            <a:extLst>
              <a:ext uri="{FF2B5EF4-FFF2-40B4-BE49-F238E27FC236}">
                <a16:creationId xmlns:a16="http://schemas.microsoft.com/office/drawing/2014/main" id="{16D61067-0F5B-C82A-6E39-3079078F5F99}"/>
              </a:ext>
            </a:extLst>
          </p:cNvPr>
          <p:cNvPicPr>
            <a:picLocks noChangeAspect="1"/>
          </p:cNvPicPr>
          <p:nvPr/>
        </p:nvPicPr>
        <p:blipFill>
          <a:blip r:embed="rId2">
            <a:extLst>
              <a:ext uri="{28A0092B-C50C-407E-A947-70E740481C1C}">
                <a14:useLocalDpi xmlns:a14="http://schemas.microsoft.com/office/drawing/2010/main" val="0"/>
              </a:ext>
            </a:extLst>
          </a:blip>
          <a:srcRect t="-1" r="45591" b="770"/>
          <a:stretch/>
        </p:blipFill>
        <p:spPr>
          <a:xfrm>
            <a:off x="7329889" y="489728"/>
            <a:ext cx="4364806" cy="4544285"/>
          </a:xfrm>
          <a:prstGeom prst="rect">
            <a:avLst/>
          </a:prstGeom>
        </p:spPr>
      </p:pic>
      <p:pic>
        <p:nvPicPr>
          <p:cNvPr id="6" name="Image 5">
            <a:extLst>
              <a:ext uri="{FF2B5EF4-FFF2-40B4-BE49-F238E27FC236}">
                <a16:creationId xmlns:a16="http://schemas.microsoft.com/office/drawing/2014/main" id="{51C08DEA-8D0D-AEA4-21CC-38468BF92F4A}"/>
              </a:ext>
            </a:extLst>
          </p:cNvPr>
          <p:cNvPicPr>
            <a:picLocks noChangeAspect="1"/>
          </p:cNvPicPr>
          <p:nvPr/>
        </p:nvPicPr>
        <p:blipFill>
          <a:blip r:embed="rId3">
            <a:extLst>
              <a:ext uri="{28A0092B-C50C-407E-A947-70E740481C1C}">
                <a14:useLocalDpi xmlns:a14="http://schemas.microsoft.com/office/drawing/2010/main" val="0"/>
              </a:ext>
            </a:extLst>
          </a:blip>
          <a:srcRect t="-4037" r="50000"/>
          <a:stretch/>
        </p:blipFill>
        <p:spPr>
          <a:xfrm>
            <a:off x="7329890" y="4957011"/>
            <a:ext cx="4364805" cy="1116524"/>
          </a:xfrm>
          <a:prstGeom prst="rect">
            <a:avLst/>
          </a:prstGeom>
        </p:spPr>
      </p:pic>
    </p:spTree>
    <p:extLst>
      <p:ext uri="{BB962C8B-B14F-4D97-AF65-F5344CB8AC3E}">
        <p14:creationId xmlns:p14="http://schemas.microsoft.com/office/powerpoint/2010/main" val="8168054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F91C1C0-029F-4AAB-9787-4BBD14A7142C}"/>
              </a:ext>
            </a:extLst>
          </p:cNvPr>
          <p:cNvSpPr>
            <a:spLocks noGrp="1"/>
          </p:cNvSpPr>
          <p:nvPr>
            <p:ph type="title"/>
          </p:nvPr>
        </p:nvSpPr>
        <p:spPr>
          <a:xfrm>
            <a:off x="646111" y="249518"/>
            <a:ext cx="9404723" cy="1400530"/>
          </a:xfrm>
        </p:spPr>
        <p:txBody>
          <a:bodyPr/>
          <a:lstStyle/>
          <a:p>
            <a:pPr marL="285750" indent="-285750">
              <a:buFont typeface="Wingdings" panose="05000000000000000000" pitchFamily="2" charset="2"/>
              <a:buChar char="Ø"/>
            </a:pPr>
            <a:r>
              <a:rPr lang="en-US" sz="1600" b="1" dirty="0" err="1"/>
              <a:t>Desactiver</a:t>
            </a:r>
            <a:r>
              <a:rPr lang="en-US" sz="1600" b="1" dirty="0"/>
              <a:t> le Pare-feu (firewall) de windows : </a:t>
            </a:r>
            <a:r>
              <a:rPr lang="en-US" sz="1600" dirty="0"/>
              <a:t>Pour que le </a:t>
            </a:r>
            <a:r>
              <a:rPr lang="en-US" sz="1600" dirty="0" err="1"/>
              <a:t>systeme</a:t>
            </a:r>
            <a:r>
              <a:rPr lang="en-US" sz="1600" dirty="0"/>
              <a:t> de </a:t>
            </a:r>
            <a:r>
              <a:rPr lang="en-US" sz="1600" dirty="0" err="1"/>
              <a:t>securite</a:t>
            </a:r>
            <a:r>
              <a:rPr lang="en-US" sz="1600" dirty="0"/>
              <a:t> de windows </a:t>
            </a:r>
            <a:r>
              <a:rPr lang="en-US" sz="1600" dirty="0" err="1"/>
              <a:t>n’empeche</a:t>
            </a:r>
            <a:r>
              <a:rPr lang="en-US" sz="1600" dirty="0"/>
              <a:t> pas le partage entre les deux machines (on </a:t>
            </a:r>
            <a:r>
              <a:rPr lang="en-US" sz="1600" dirty="0" err="1"/>
              <a:t>peut</a:t>
            </a:r>
            <a:r>
              <a:rPr lang="en-US" sz="1600" dirty="0"/>
              <a:t> </a:t>
            </a:r>
            <a:r>
              <a:rPr lang="en-US" sz="1600" dirty="0" err="1"/>
              <a:t>aussi</a:t>
            </a:r>
            <a:r>
              <a:rPr lang="en-US" sz="1600" dirty="0"/>
              <a:t> ignorer </a:t>
            </a:r>
            <a:r>
              <a:rPr lang="en-US" sz="1600" dirty="0" err="1"/>
              <a:t>cette</a:t>
            </a:r>
            <a:r>
              <a:rPr lang="en-US" sz="1600" dirty="0"/>
              <a:t> </a:t>
            </a:r>
            <a:r>
              <a:rPr lang="en-US" sz="1600" dirty="0" err="1"/>
              <a:t>etape</a:t>
            </a:r>
            <a:r>
              <a:rPr lang="en-US" sz="1600" dirty="0"/>
              <a:t> par la permission de partage </a:t>
            </a:r>
            <a:r>
              <a:rPr lang="en-US" sz="1600" dirty="0" err="1"/>
              <a:t>smb</a:t>
            </a:r>
            <a:r>
              <a:rPr lang="en-US" sz="1600" dirty="0"/>
              <a:t> au </a:t>
            </a:r>
            <a:r>
              <a:rPr lang="en-US" sz="1600" dirty="0" err="1"/>
              <a:t>niveau</a:t>
            </a:r>
            <a:r>
              <a:rPr lang="en-US" sz="1600" dirty="0"/>
              <a:t> du Pare-feu de windows ).</a:t>
            </a:r>
            <a:endParaRPr lang="en-US" sz="1600" b="1" dirty="0"/>
          </a:p>
        </p:txBody>
      </p:sp>
      <p:pic>
        <p:nvPicPr>
          <p:cNvPr id="5" name="Image 4">
            <a:extLst>
              <a:ext uri="{FF2B5EF4-FFF2-40B4-BE49-F238E27FC236}">
                <a16:creationId xmlns:a16="http://schemas.microsoft.com/office/drawing/2014/main" id="{26371285-7FAE-4FEE-8F58-6F2B662A24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1293" y="1295857"/>
            <a:ext cx="9272228" cy="5562143"/>
          </a:xfrm>
          <a:prstGeom prst="rect">
            <a:avLst/>
          </a:prstGeom>
        </p:spPr>
      </p:pic>
    </p:spTree>
    <p:extLst>
      <p:ext uri="{BB962C8B-B14F-4D97-AF65-F5344CB8AC3E}">
        <p14:creationId xmlns:p14="http://schemas.microsoft.com/office/powerpoint/2010/main" val="33853466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71FE906-AC68-1D8B-CBD7-B8542C1B05E1}"/>
              </a:ext>
            </a:extLst>
          </p:cNvPr>
          <p:cNvSpPr>
            <a:spLocks noGrp="1"/>
          </p:cNvSpPr>
          <p:nvPr>
            <p:ph type="title"/>
          </p:nvPr>
        </p:nvSpPr>
        <p:spPr/>
        <p:txBody>
          <a:bodyPr/>
          <a:lstStyle/>
          <a:p>
            <a:pPr marL="571500" indent="-571500">
              <a:buFont typeface="Wingdings" panose="05000000000000000000" pitchFamily="2" charset="2"/>
              <a:buChar char="Ø"/>
            </a:pPr>
            <a:r>
              <a:rPr lang="fr-FR" dirty="0"/>
              <a:t>Connection sur le réseau du 									partage :</a:t>
            </a:r>
            <a:br>
              <a:rPr lang="fr-FR" dirty="0"/>
            </a:br>
            <a:endParaRPr lang="fr-FR" sz="1600" dirty="0"/>
          </a:p>
        </p:txBody>
      </p:sp>
      <p:pic>
        <p:nvPicPr>
          <p:cNvPr id="5" name="Image 4">
            <a:extLst>
              <a:ext uri="{FF2B5EF4-FFF2-40B4-BE49-F238E27FC236}">
                <a16:creationId xmlns:a16="http://schemas.microsoft.com/office/drawing/2014/main" id="{FBCFCCEA-139D-962E-58B8-32154B0652CA}"/>
              </a:ext>
            </a:extLst>
          </p:cNvPr>
          <p:cNvPicPr>
            <a:picLocks noChangeAspect="1"/>
          </p:cNvPicPr>
          <p:nvPr/>
        </p:nvPicPr>
        <p:blipFill>
          <a:blip r:embed="rId2">
            <a:extLst>
              <a:ext uri="{28A0092B-C50C-407E-A947-70E740481C1C}">
                <a14:useLocalDpi xmlns:a14="http://schemas.microsoft.com/office/drawing/2010/main" val="0"/>
              </a:ext>
            </a:extLst>
          </a:blip>
          <a:srcRect l="8589"/>
          <a:stretch/>
        </p:blipFill>
        <p:spPr>
          <a:xfrm>
            <a:off x="891975" y="1853248"/>
            <a:ext cx="8912994" cy="4933627"/>
          </a:xfrm>
          <a:prstGeom prst="rect">
            <a:avLst/>
          </a:prstGeom>
        </p:spPr>
      </p:pic>
    </p:spTree>
    <p:extLst>
      <p:ext uri="{BB962C8B-B14F-4D97-AF65-F5344CB8AC3E}">
        <p14:creationId xmlns:p14="http://schemas.microsoft.com/office/powerpoint/2010/main" val="7766015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1219390-A7EF-1204-8DDA-47A1C09EEF0E}"/>
              </a:ext>
            </a:extLst>
          </p:cNvPr>
          <p:cNvSpPr>
            <a:spLocks noGrp="1"/>
          </p:cNvSpPr>
          <p:nvPr>
            <p:ph type="title"/>
          </p:nvPr>
        </p:nvSpPr>
        <p:spPr/>
        <p:txBody>
          <a:bodyPr/>
          <a:lstStyle/>
          <a:p>
            <a:r>
              <a:rPr lang="fr-FR" dirty="0"/>
              <a:t>		- Saisir des informations de 										l’utilisateur :</a:t>
            </a:r>
          </a:p>
        </p:txBody>
      </p:sp>
      <p:pic>
        <p:nvPicPr>
          <p:cNvPr id="5" name="Image 4">
            <a:extLst>
              <a:ext uri="{FF2B5EF4-FFF2-40B4-BE49-F238E27FC236}">
                <a16:creationId xmlns:a16="http://schemas.microsoft.com/office/drawing/2014/main" id="{B5953C1B-18F7-EBF2-1A0A-5D80BB131C71}"/>
              </a:ext>
            </a:extLst>
          </p:cNvPr>
          <p:cNvPicPr>
            <a:picLocks noChangeAspect="1"/>
          </p:cNvPicPr>
          <p:nvPr/>
        </p:nvPicPr>
        <p:blipFill>
          <a:blip r:embed="rId2">
            <a:extLst>
              <a:ext uri="{28A0092B-C50C-407E-A947-70E740481C1C}">
                <a14:useLocalDpi xmlns:a14="http://schemas.microsoft.com/office/drawing/2010/main" val="0"/>
              </a:ext>
            </a:extLst>
          </a:blip>
          <a:srcRect l="11842" t="32095" r="10143"/>
          <a:stretch/>
        </p:blipFill>
        <p:spPr>
          <a:xfrm>
            <a:off x="1379690" y="1963555"/>
            <a:ext cx="8671144" cy="4584886"/>
          </a:xfrm>
          <a:prstGeom prst="rect">
            <a:avLst/>
          </a:prstGeom>
        </p:spPr>
      </p:pic>
    </p:spTree>
    <p:extLst>
      <p:ext uri="{BB962C8B-B14F-4D97-AF65-F5344CB8AC3E}">
        <p14:creationId xmlns:p14="http://schemas.microsoft.com/office/powerpoint/2010/main" val="600748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873CA84-0E6E-4E2F-BF25-234ED6A1432E}"/>
              </a:ext>
            </a:extLst>
          </p:cNvPr>
          <p:cNvSpPr>
            <a:spLocks noGrp="1"/>
          </p:cNvSpPr>
          <p:nvPr>
            <p:ph type="title"/>
          </p:nvPr>
        </p:nvSpPr>
        <p:spPr/>
        <p:txBody>
          <a:bodyPr/>
          <a:lstStyle/>
          <a:p>
            <a:pPr algn="ctr"/>
            <a:r>
              <a:rPr lang="en-US" sz="5400" dirty="0">
                <a:solidFill>
                  <a:schemeClr val="accent3">
                    <a:lumMod val="40000"/>
                    <a:lumOff val="60000"/>
                  </a:schemeClr>
                </a:solidFill>
              </a:rPr>
              <a:t>Les </a:t>
            </a:r>
            <a:r>
              <a:rPr lang="en-US" sz="5400" dirty="0" err="1">
                <a:solidFill>
                  <a:schemeClr val="accent3">
                    <a:lumMod val="40000"/>
                    <a:lumOff val="60000"/>
                  </a:schemeClr>
                </a:solidFill>
              </a:rPr>
              <a:t>etapes</a:t>
            </a:r>
            <a:r>
              <a:rPr lang="en-US" sz="5400" dirty="0">
                <a:solidFill>
                  <a:schemeClr val="accent3">
                    <a:lumMod val="40000"/>
                    <a:lumOff val="60000"/>
                  </a:schemeClr>
                </a:solidFill>
              </a:rPr>
              <a:t> </a:t>
            </a:r>
            <a:r>
              <a:rPr lang="en-US" sz="5400" dirty="0" err="1">
                <a:solidFill>
                  <a:schemeClr val="accent3">
                    <a:lumMod val="40000"/>
                    <a:lumOff val="60000"/>
                  </a:schemeClr>
                </a:solidFill>
              </a:rPr>
              <a:t>en</a:t>
            </a:r>
            <a:r>
              <a:rPr lang="en-US" sz="5400" dirty="0">
                <a:solidFill>
                  <a:schemeClr val="accent3">
                    <a:lumMod val="40000"/>
                    <a:lumOff val="60000"/>
                  </a:schemeClr>
                </a:solidFill>
              </a:rPr>
              <a:t> conclusion :</a:t>
            </a:r>
          </a:p>
        </p:txBody>
      </p:sp>
      <p:sp>
        <p:nvSpPr>
          <p:cNvPr id="3" name="Espace réservé du contenu 2">
            <a:extLst>
              <a:ext uri="{FF2B5EF4-FFF2-40B4-BE49-F238E27FC236}">
                <a16:creationId xmlns:a16="http://schemas.microsoft.com/office/drawing/2014/main" id="{AAA99852-5386-7CF6-983C-814C0B85AF8E}"/>
              </a:ext>
            </a:extLst>
          </p:cNvPr>
          <p:cNvSpPr>
            <a:spLocks noGrp="1"/>
          </p:cNvSpPr>
          <p:nvPr>
            <p:ph idx="1"/>
          </p:nvPr>
        </p:nvSpPr>
        <p:spPr/>
        <p:txBody>
          <a:bodyPr>
            <a:normAutofit lnSpcReduction="10000"/>
          </a:bodyPr>
          <a:lstStyle/>
          <a:p>
            <a:pPr marL="0" indent="0">
              <a:buNone/>
            </a:pPr>
            <a:r>
              <a:rPr lang="en-US" dirty="0"/>
              <a:t>1-Mise a jour du system </a:t>
            </a:r>
            <a:r>
              <a:rPr lang="en-US" dirty="0" err="1"/>
              <a:t>lunix</a:t>
            </a:r>
            <a:endParaRPr lang="en-US" dirty="0"/>
          </a:p>
          <a:p>
            <a:pPr marL="0" indent="0">
              <a:buNone/>
            </a:pPr>
            <a:r>
              <a:rPr lang="en-US" dirty="0"/>
              <a:t>2-Installation du SAMBA</a:t>
            </a:r>
          </a:p>
          <a:p>
            <a:pPr marL="0" indent="0">
              <a:buNone/>
            </a:pPr>
            <a:r>
              <a:rPr lang="en-US" dirty="0"/>
              <a:t>3-Activation du service </a:t>
            </a:r>
            <a:r>
              <a:rPr lang="en-US" dirty="0" err="1"/>
              <a:t>smbd</a:t>
            </a:r>
            <a:endParaRPr lang="en-US" dirty="0"/>
          </a:p>
          <a:p>
            <a:pPr marL="0" indent="0">
              <a:buNone/>
            </a:pPr>
            <a:r>
              <a:rPr lang="en-US" dirty="0"/>
              <a:t>4-Connectivite des machines</a:t>
            </a:r>
          </a:p>
          <a:p>
            <a:pPr marL="0" indent="0">
              <a:buNone/>
            </a:pPr>
            <a:r>
              <a:rPr lang="en-US" dirty="0"/>
              <a:t>5-Creation des </a:t>
            </a:r>
            <a:r>
              <a:rPr lang="en-US" dirty="0" err="1"/>
              <a:t>fichiers</a:t>
            </a:r>
            <a:r>
              <a:rPr lang="en-US" dirty="0"/>
              <a:t> de partage</a:t>
            </a:r>
          </a:p>
          <a:p>
            <a:pPr marL="0" indent="0">
              <a:buNone/>
            </a:pPr>
            <a:r>
              <a:rPr lang="en-US" dirty="0"/>
              <a:t>6-Configuration de Samba</a:t>
            </a:r>
          </a:p>
          <a:p>
            <a:pPr marL="0" indent="0">
              <a:buNone/>
            </a:pPr>
            <a:r>
              <a:rPr lang="en-US" dirty="0"/>
              <a:t>7-Redemarrer le service Samba</a:t>
            </a:r>
          </a:p>
          <a:p>
            <a:pPr marL="0" indent="0">
              <a:buNone/>
            </a:pPr>
            <a:r>
              <a:rPr lang="en-US" dirty="0"/>
              <a:t>8-Configuration des </a:t>
            </a:r>
            <a:r>
              <a:rPr lang="en-US" dirty="0" err="1"/>
              <a:t>utilisateurs</a:t>
            </a:r>
            <a:endParaRPr lang="en-US" dirty="0"/>
          </a:p>
          <a:p>
            <a:pPr marL="0" indent="0">
              <a:buNone/>
            </a:pPr>
            <a:r>
              <a:rPr lang="en-US" dirty="0"/>
              <a:t>9-Verification du pare-feu</a:t>
            </a:r>
          </a:p>
          <a:p>
            <a:pPr marL="0" indent="0">
              <a:buNone/>
            </a:pPr>
            <a:r>
              <a:rPr lang="en-US"/>
              <a:t>10-Connection </a:t>
            </a:r>
            <a:r>
              <a:rPr lang="en-US" dirty="0" err="1"/>
              <a:t>depuis</a:t>
            </a:r>
            <a:r>
              <a:rPr lang="en-US" dirty="0"/>
              <a:t> </a:t>
            </a:r>
            <a:r>
              <a:rPr lang="en-US" dirty="0" err="1"/>
              <a:t>une</a:t>
            </a:r>
            <a:r>
              <a:rPr lang="en-US" dirty="0"/>
              <a:t> </a:t>
            </a:r>
            <a:r>
              <a:rPr lang="en-US" dirty="0" err="1"/>
              <a:t>autre</a:t>
            </a:r>
            <a:r>
              <a:rPr lang="en-US" dirty="0"/>
              <a:t> machine-client (windows)</a:t>
            </a:r>
          </a:p>
        </p:txBody>
      </p:sp>
    </p:spTree>
    <p:extLst>
      <p:ext uri="{BB962C8B-B14F-4D97-AF65-F5344CB8AC3E}">
        <p14:creationId xmlns:p14="http://schemas.microsoft.com/office/powerpoint/2010/main" val="32022701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3E7073-6239-F06C-8946-7810039C691D}"/>
              </a:ext>
            </a:extLst>
          </p:cNvPr>
          <p:cNvSpPr>
            <a:spLocks noGrp="1"/>
          </p:cNvSpPr>
          <p:nvPr>
            <p:ph idx="1"/>
          </p:nvPr>
        </p:nvSpPr>
        <p:spPr>
          <a:xfrm>
            <a:off x="691253" y="652538"/>
            <a:ext cx="10809494" cy="5069113"/>
          </a:xfrm>
        </p:spPr>
        <p:txBody>
          <a:bodyPr>
            <a:noAutofit/>
          </a:bodyPr>
          <a:lstStyle/>
          <a:p>
            <a:pPr>
              <a:buFont typeface="Wingdings" pitchFamily="2" charset="2"/>
              <a:buChar char="Ø"/>
            </a:pPr>
            <a:r>
              <a:rPr lang="en-US" sz="4700" b="1" dirty="0"/>
              <a:t>En conclusion , Samba </a:t>
            </a:r>
            <a:r>
              <a:rPr lang="en-US" sz="4700" b="1" dirty="0" err="1"/>
              <a:t>est</a:t>
            </a:r>
            <a:r>
              <a:rPr lang="en-US" sz="4700" b="1" dirty="0"/>
              <a:t> plus </a:t>
            </a:r>
            <a:r>
              <a:rPr lang="en-US" sz="4700" b="1" dirty="0" err="1"/>
              <a:t>adapté</a:t>
            </a:r>
            <a:r>
              <a:rPr lang="en-US" sz="4700" b="1" dirty="0"/>
              <a:t> aux </a:t>
            </a:r>
            <a:r>
              <a:rPr lang="en-US" sz="4700" b="1" dirty="0" err="1"/>
              <a:t>environnements</a:t>
            </a:r>
            <a:r>
              <a:rPr lang="en-US" sz="4700" b="1" dirty="0"/>
              <a:t> </a:t>
            </a:r>
            <a:r>
              <a:rPr lang="en-US" sz="4700" b="1" dirty="0" err="1"/>
              <a:t>mixtes</a:t>
            </a:r>
            <a:r>
              <a:rPr lang="en-US" sz="4700" b="1" dirty="0"/>
              <a:t> avec </a:t>
            </a:r>
            <a:r>
              <a:rPr lang="en-US" sz="4700" b="1" dirty="0" err="1"/>
              <a:t>une</a:t>
            </a:r>
            <a:r>
              <a:rPr lang="en-US" sz="4700" b="1" dirty="0"/>
              <a:t> forte </a:t>
            </a:r>
            <a:r>
              <a:rPr lang="en-US" sz="4700" b="1" dirty="0" err="1"/>
              <a:t>présence</a:t>
            </a:r>
            <a:r>
              <a:rPr lang="en-US" sz="4700" b="1" dirty="0"/>
              <a:t> Windows, </a:t>
            </a:r>
            <a:r>
              <a:rPr lang="en-US" sz="4700" b="1" dirty="0" err="1"/>
              <a:t>tandis</a:t>
            </a:r>
            <a:r>
              <a:rPr lang="en-US" sz="4700" b="1" dirty="0"/>
              <a:t> </a:t>
            </a:r>
            <a:r>
              <a:rPr lang="en-US" sz="4700" b="1" dirty="0" err="1"/>
              <a:t>que</a:t>
            </a:r>
            <a:r>
              <a:rPr lang="en-US" sz="4700" b="1" dirty="0"/>
              <a:t> NFS </a:t>
            </a:r>
            <a:r>
              <a:rPr lang="en-US" sz="4700" b="1" dirty="0" err="1"/>
              <a:t>est</a:t>
            </a:r>
            <a:r>
              <a:rPr lang="en-US" sz="4700" b="1" dirty="0"/>
              <a:t> </a:t>
            </a:r>
            <a:r>
              <a:rPr lang="en-US" sz="4700" b="1" dirty="0" err="1"/>
              <a:t>idéal</a:t>
            </a:r>
            <a:r>
              <a:rPr lang="en-US" sz="4700" b="1" dirty="0"/>
              <a:t> pour les </a:t>
            </a:r>
            <a:r>
              <a:rPr lang="en-US" sz="4700" b="1" dirty="0" err="1"/>
              <a:t>environnements</a:t>
            </a:r>
            <a:r>
              <a:rPr lang="en-US" sz="4700" b="1" dirty="0"/>
              <a:t> Unix/Linux </a:t>
            </a:r>
            <a:r>
              <a:rPr lang="en-US" sz="4700" b="1" dirty="0" err="1"/>
              <a:t>purs</a:t>
            </a:r>
            <a:r>
              <a:rPr lang="en-US" sz="4700" b="1" dirty="0"/>
              <a:t> </a:t>
            </a:r>
            <a:r>
              <a:rPr lang="en-US" sz="4700" b="1" dirty="0" err="1"/>
              <a:t>où</a:t>
            </a:r>
            <a:r>
              <a:rPr lang="en-US" sz="4700" b="1" dirty="0"/>
              <a:t> la performance et la </a:t>
            </a:r>
            <a:r>
              <a:rPr lang="en-US" sz="4700" b="1" dirty="0" err="1"/>
              <a:t>simplicité</a:t>
            </a:r>
            <a:r>
              <a:rPr lang="en-US" sz="4700" b="1" dirty="0"/>
              <a:t> </a:t>
            </a:r>
            <a:r>
              <a:rPr lang="en-US" sz="4700" b="1" dirty="0" err="1"/>
              <a:t>sont</a:t>
            </a:r>
            <a:r>
              <a:rPr lang="en-US" sz="4700" b="1" dirty="0"/>
              <a:t> </a:t>
            </a:r>
            <a:r>
              <a:rPr lang="en-US" sz="4700" b="1" dirty="0" err="1"/>
              <a:t>prioritaires</a:t>
            </a:r>
            <a:r>
              <a:rPr lang="en-US" sz="4700" b="1" dirty="0"/>
              <a:t>.</a:t>
            </a:r>
            <a:endParaRPr lang="en-MR" sz="4700" b="1" dirty="0"/>
          </a:p>
        </p:txBody>
      </p:sp>
    </p:spTree>
    <p:extLst>
      <p:ext uri="{BB962C8B-B14F-4D97-AF65-F5344CB8AC3E}">
        <p14:creationId xmlns:p14="http://schemas.microsoft.com/office/powerpoint/2010/main" val="109908246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842</TotalTime>
  <Words>532</Words>
  <Application>Microsoft Office PowerPoint</Application>
  <PresentationFormat>Widescreen</PresentationFormat>
  <Paragraphs>76</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Ion</vt:lpstr>
      <vt:lpstr>PROJET UNIX</vt:lpstr>
      <vt:lpstr>Introduction</vt:lpstr>
      <vt:lpstr>Installation :</vt:lpstr>
      <vt:lpstr>Demarrer le service smbd (Service Message Block Daemon ) :  </vt:lpstr>
      <vt:lpstr>Connection de deux machine sur la meme reseau</vt:lpstr>
      <vt:lpstr>Assures que les deux machines utilisent la meme plage d’adresse IP et le meme masque de sous-réseau</vt:lpstr>
      <vt:lpstr>PowerPoint Presentation</vt:lpstr>
      <vt:lpstr>PowerPoint Presentation</vt:lpstr>
      <vt:lpstr>Utilisée “ping” pour tester la connectivité entre les deux machines</vt:lpstr>
      <vt:lpstr>Partage de fichiers</vt:lpstr>
      <vt:lpstr>Verifier la configuration des fichiers de partage Par la commande testparm :  La configuration est acceptable si la commande testparm affiche       (Loaded services file OK.)</vt:lpstr>
      <vt:lpstr>PowerPoint Presentation</vt:lpstr>
      <vt:lpstr>Desactiver le Pare-feu (firewall) de windows : Pour que le systeme de securite de windows n’empeche pas le partage entre les deux machines (on peut aussi ignorer cette etape par la permission de partage smb au niveau du Pare-feu de windows ).</vt:lpstr>
      <vt:lpstr>Connection sur le réseau du          partage : </vt:lpstr>
      <vt:lpstr>  - Saisir des informations de           l’utilisateur :</vt:lpstr>
      <vt:lpstr>Les etapes en conclusion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PROJET UNIX</dc:title>
  <dc:creator>zeinebou sidi mohamed</dc:creator>
  <cp:lastModifiedBy>MD Salem</cp:lastModifiedBy>
  <cp:revision>14</cp:revision>
  <dcterms:created xsi:type="dcterms:W3CDTF">2024-01-10T22:51:01Z</dcterms:created>
  <dcterms:modified xsi:type="dcterms:W3CDTF">2025-01-25T11:30:39Z</dcterms:modified>
</cp:coreProperties>
</file>